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5" r:id="rId4"/>
  </p:sldMasterIdLst>
  <p:notesMasterIdLst>
    <p:notesMasterId r:id="rId15"/>
  </p:notesMasterIdLst>
  <p:sldIdLst>
    <p:sldId id="1303" r:id="rId5"/>
    <p:sldId id="1310" r:id="rId6"/>
    <p:sldId id="1301" r:id="rId7"/>
    <p:sldId id="1302" r:id="rId8"/>
    <p:sldId id="1306" r:id="rId9"/>
    <p:sldId id="1307" r:id="rId10"/>
    <p:sldId id="1308" r:id="rId11"/>
    <p:sldId id="1295" r:id="rId12"/>
    <p:sldId id="1296" r:id="rId13"/>
    <p:sldId id="1250" r:id="rId14"/>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792" userDrawn="1">
          <p15:clr>
            <a:srgbClr val="A4A3A4"/>
          </p15:clr>
        </p15:guide>
        <p15:guide id="2" pos="192" userDrawn="1">
          <p15:clr>
            <a:srgbClr val="A4A3A4"/>
          </p15:clr>
        </p15:guide>
        <p15:guide id="3" orient="horz" pos="1080" userDrawn="1">
          <p15:clr>
            <a:srgbClr val="A4A3A4"/>
          </p15:clr>
        </p15:guide>
      </p15:sldGuideLst>
    </p:ext>
    <p:ext uri="http://customooxmlschemas.google.com/">
      <go:slidesCustomData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go="http://customooxmlschemas.google.com/" xmlns="" r:id="rId220" roundtripDataSignature="AMtx7miWNY2LB4ETJwrL8F0N+EK9hEhqU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DEEFF"/>
    <a:srgbClr val="F9FFEB"/>
    <a:srgbClr val="EDFFC5"/>
    <a:srgbClr val="7FBA00"/>
    <a:srgbClr val="EBEEF9"/>
    <a:srgbClr val="213164"/>
    <a:srgbClr val="FED500"/>
    <a:srgbClr val="484F9E"/>
    <a:srgbClr val="F6AB1B"/>
    <a:srgbClr val="F7BA1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DB0BD2C-787D-4334-A4FA-EEFDD7D0E485}" v="111" dt="2026-01-08T14:47:48.535"/>
    <p1510:client id="{BE861BFA-4401-4263-A3E8-6AE160DBDFA7}" v="174" dt="2026-01-08T14:41:03.84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5882" autoAdjust="0"/>
  </p:normalViewPr>
  <p:slideViewPr>
    <p:cSldViewPr snapToGrid="0">
      <p:cViewPr varScale="1">
        <p:scale>
          <a:sx n="60" d="100"/>
          <a:sy n="60" d="100"/>
        </p:scale>
        <p:origin x="1116" y="312"/>
      </p:cViewPr>
      <p:guideLst>
        <p:guide orient="horz" pos="792"/>
        <p:guide pos="192"/>
        <p:guide orient="horz" pos="108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3" Type="http://schemas.openxmlformats.org/officeDocument/2006/relationships/customXml" Target="../customXml/item3.xml"/><Relationship Id="rId222"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226" Type="http://schemas.microsoft.com/office/2015/10/relationships/revisionInfo" Target="revisionInfo.xml"/><Relationship Id="rId2" Type="http://schemas.openxmlformats.org/officeDocument/2006/relationships/customXml" Target="../customXml/item2.xml"/><Relationship Id="rId221"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20" Type="http://customschemas.google.com/relationships/presentationmetadata" Target="metadata"/><Relationship Id="rId225" Type="http://schemas.microsoft.com/office/2016/11/relationships/changesInfo" Target="changesInfos/changesInfo1.xml"/><Relationship Id="rId5" Type="http://schemas.openxmlformats.org/officeDocument/2006/relationships/slide" Target="slides/slide1.xml"/><Relationship Id="rId15" Type="http://schemas.openxmlformats.org/officeDocument/2006/relationships/notesMaster" Target="notesMasters/notesMaster1.xml"/><Relationship Id="rId10" Type="http://schemas.openxmlformats.org/officeDocument/2006/relationships/slide" Target="slides/slide6.xml"/><Relationship Id="rId224"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3"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andresh Dabhi" userId="af71c14b62192cec" providerId="LiveId" clId="{90F13F0C-2D6A-42F2-AA44-6B5B0D094886}"/>
    <pc:docChg chg="modSld">
      <pc:chgData name="Chandresh Dabhi" userId="af71c14b62192cec" providerId="LiveId" clId="{90F13F0C-2D6A-42F2-AA44-6B5B0D094886}" dt="2026-01-08T16:17:18.229" v="38" actId="20577"/>
      <pc:docMkLst>
        <pc:docMk/>
      </pc:docMkLst>
      <pc:sldChg chg="modSp mod">
        <pc:chgData name="Chandresh Dabhi" userId="af71c14b62192cec" providerId="LiveId" clId="{90F13F0C-2D6A-42F2-AA44-6B5B0D094886}" dt="2026-01-08T16:17:18.229" v="38" actId="20577"/>
        <pc:sldMkLst>
          <pc:docMk/>
          <pc:sldMk cId="1307925877" sldId="1296"/>
        </pc:sldMkLst>
        <pc:spChg chg="mod">
          <ac:chgData name="Chandresh Dabhi" userId="af71c14b62192cec" providerId="LiveId" clId="{90F13F0C-2D6A-42F2-AA44-6B5B0D094886}" dt="2026-01-08T16:17:18.229" v="38" actId="20577"/>
          <ac:spMkLst>
            <pc:docMk/>
            <pc:sldMk cId="1307925877" sldId="1296"/>
            <ac:spMk id="4" creationId="{EC8B546F-F91E-160B-DC7F-688AFB5A50EA}"/>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extLst>
      <p:ext uri="{BB962C8B-B14F-4D97-AF65-F5344CB8AC3E}">
        <p14:creationId xmlns:p14="http://schemas.microsoft.com/office/powerpoint/2010/main" val="293080257"/>
      </p:ext>
    </p:extLst>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66F48-9D21-782B-817D-628E00E790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EA01B1-8FFD-B3B2-8C58-D03C141EAAFE}"/>
              </a:ext>
            </a:extLst>
          </p:cNvPr>
          <p:cNvSpPr>
            <a:spLocks noGrp="1" noRot="1" noChangeAspect="1"/>
          </p:cNvSpPr>
          <p:nvPr>
            <p:ph type="sldImg"/>
          </p:nvPr>
        </p:nvSpPr>
        <p:spPr>
          <a:xfrm>
            <a:off x="533400" y="763588"/>
            <a:ext cx="6704013" cy="3771900"/>
          </a:xfrm>
        </p:spPr>
      </p:sp>
      <p:sp>
        <p:nvSpPr>
          <p:cNvPr id="3" name="Notes Placeholder 2">
            <a:extLst>
              <a:ext uri="{FF2B5EF4-FFF2-40B4-BE49-F238E27FC236}">
                <a16:creationId xmlns:a16="http://schemas.microsoft.com/office/drawing/2014/main" id="{24391DBC-FC69-5469-D390-5D98A124241B}"/>
              </a:ext>
            </a:extLst>
          </p:cNvPr>
          <p:cNvSpPr>
            <a:spLocks noGrp="1"/>
          </p:cNvSpPr>
          <p:nvPr>
            <p:ph type="body" idx="1"/>
          </p:nvPr>
        </p:nvSpPr>
        <p:spPr/>
        <p:txBody>
          <a:bodyPr/>
          <a:lstStyle/>
          <a:p>
            <a:pPr marL="158750" indent="0">
              <a:buNone/>
            </a:pPr>
            <a:endParaRPr lang="en-US" b="1"/>
          </a:p>
        </p:txBody>
      </p:sp>
      <p:sp>
        <p:nvSpPr>
          <p:cNvPr id="4" name="Slide Number Placeholder 3">
            <a:extLst>
              <a:ext uri="{FF2B5EF4-FFF2-40B4-BE49-F238E27FC236}">
                <a16:creationId xmlns:a16="http://schemas.microsoft.com/office/drawing/2014/main" id="{70FE33EE-4789-F264-0283-0D77B6B7A50C}"/>
              </a:ext>
            </a:extLst>
          </p:cNvPr>
          <p:cNvSpPr>
            <a:spLocks noGrp="1"/>
          </p:cNvSpPr>
          <p:nvPr>
            <p:ph type="sldNum"/>
          </p:nvPr>
        </p:nvSpPr>
        <p:spPr/>
        <p:txBody>
          <a:bodyPr/>
          <a:lstStyle/>
          <a:p>
            <a:pPr algn="r"/>
            <a:fld id="{023E65BA-FB28-47C4-A217-44F00343302E}" type="slidenum">
              <a:rPr lang="en-US" sz="1400" b="0" strike="noStrike" spc="-1">
                <a:latin typeface="Times New Roman"/>
              </a:rPr>
              <a:t>1</a:t>
            </a:fld>
            <a:endParaRPr lang="en-US" sz="1400" b="0" strike="noStrike" spc="-1">
              <a:latin typeface="Times New Roman"/>
            </a:endParaRPr>
          </a:p>
        </p:txBody>
      </p:sp>
    </p:spTree>
    <p:extLst>
      <p:ext uri="{BB962C8B-B14F-4D97-AF65-F5344CB8AC3E}">
        <p14:creationId xmlns:p14="http://schemas.microsoft.com/office/powerpoint/2010/main" val="35254819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a:extLst>
            <a:ext uri="{FF2B5EF4-FFF2-40B4-BE49-F238E27FC236}">
              <a16:creationId xmlns:a16="http://schemas.microsoft.com/office/drawing/2014/main" id="{9B80395F-E9B0-9621-C4E3-FD7FF72706EA}"/>
            </a:ext>
          </a:extLst>
        </p:cNvPr>
        <p:cNvGrpSpPr/>
        <p:nvPr/>
      </p:nvGrpSpPr>
      <p:grpSpPr>
        <a:xfrm>
          <a:off x="0" y="0"/>
          <a:ext cx="0" cy="0"/>
          <a:chOff x="0" y="0"/>
          <a:chExt cx="0" cy="0"/>
        </a:xfrm>
      </p:grpSpPr>
      <p:sp>
        <p:nvSpPr>
          <p:cNvPr id="58" name="Google Shape;58;g5fab984687_2_0:notes">
            <a:extLst>
              <a:ext uri="{FF2B5EF4-FFF2-40B4-BE49-F238E27FC236}">
                <a16:creationId xmlns:a16="http://schemas.microsoft.com/office/drawing/2014/main" id="{63215563-4F70-DE4A-C34C-638BAB5FBB3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dirty="0"/>
          </a:p>
        </p:txBody>
      </p:sp>
      <p:sp>
        <p:nvSpPr>
          <p:cNvPr id="59" name="Google Shape;59;g5fab984687_2_0:notes">
            <a:extLst>
              <a:ext uri="{FF2B5EF4-FFF2-40B4-BE49-F238E27FC236}">
                <a16:creationId xmlns:a16="http://schemas.microsoft.com/office/drawing/2014/main" id="{9344126E-2736-A4F6-D565-28E63507C3D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519348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5fab984687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dirty="0"/>
          </a:p>
        </p:txBody>
      </p:sp>
      <p:sp>
        <p:nvSpPr>
          <p:cNvPr id="59" name="Google Shape;59;g5fab984687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0165805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5fab984687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dirty="0"/>
          </a:p>
        </p:txBody>
      </p:sp>
      <p:sp>
        <p:nvSpPr>
          <p:cNvPr id="59" name="Google Shape;59;g5fab984687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21134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a:extLst>
            <a:ext uri="{FF2B5EF4-FFF2-40B4-BE49-F238E27FC236}">
              <a16:creationId xmlns:a16="http://schemas.microsoft.com/office/drawing/2014/main" id="{2D6D3F29-8BDE-7163-D2D5-EE57DFC9C904}"/>
            </a:ext>
          </a:extLst>
        </p:cNvPr>
        <p:cNvGrpSpPr/>
        <p:nvPr/>
      </p:nvGrpSpPr>
      <p:grpSpPr>
        <a:xfrm>
          <a:off x="0" y="0"/>
          <a:ext cx="0" cy="0"/>
          <a:chOff x="0" y="0"/>
          <a:chExt cx="0" cy="0"/>
        </a:xfrm>
      </p:grpSpPr>
      <p:sp>
        <p:nvSpPr>
          <p:cNvPr id="58" name="Google Shape;58;g5fab984687_2_0:notes">
            <a:extLst>
              <a:ext uri="{FF2B5EF4-FFF2-40B4-BE49-F238E27FC236}">
                <a16:creationId xmlns:a16="http://schemas.microsoft.com/office/drawing/2014/main" id="{A41EE912-6552-9CC6-CD6B-6B980308918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dirty="0"/>
          </a:p>
        </p:txBody>
      </p:sp>
      <p:sp>
        <p:nvSpPr>
          <p:cNvPr id="59" name="Google Shape;59;g5fab984687_2_0:notes">
            <a:extLst>
              <a:ext uri="{FF2B5EF4-FFF2-40B4-BE49-F238E27FC236}">
                <a16:creationId xmlns:a16="http://schemas.microsoft.com/office/drawing/2014/main" id="{6F97443E-66AE-5448-3379-C79C608008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8290999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a:extLst>
            <a:ext uri="{FF2B5EF4-FFF2-40B4-BE49-F238E27FC236}">
              <a16:creationId xmlns:a16="http://schemas.microsoft.com/office/drawing/2014/main" id="{2740807C-4F7F-7350-DAC5-C698CAF95294}"/>
            </a:ext>
          </a:extLst>
        </p:cNvPr>
        <p:cNvGrpSpPr/>
        <p:nvPr/>
      </p:nvGrpSpPr>
      <p:grpSpPr>
        <a:xfrm>
          <a:off x="0" y="0"/>
          <a:ext cx="0" cy="0"/>
          <a:chOff x="0" y="0"/>
          <a:chExt cx="0" cy="0"/>
        </a:xfrm>
      </p:grpSpPr>
      <p:sp>
        <p:nvSpPr>
          <p:cNvPr id="58" name="Google Shape;58;g5fab984687_2_0:notes">
            <a:extLst>
              <a:ext uri="{FF2B5EF4-FFF2-40B4-BE49-F238E27FC236}">
                <a16:creationId xmlns:a16="http://schemas.microsoft.com/office/drawing/2014/main" id="{A6354546-E6C2-39A5-0CD8-6088FB6DE00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dirty="0"/>
          </a:p>
        </p:txBody>
      </p:sp>
      <p:sp>
        <p:nvSpPr>
          <p:cNvPr id="59" name="Google Shape;59;g5fab984687_2_0:notes">
            <a:extLst>
              <a:ext uri="{FF2B5EF4-FFF2-40B4-BE49-F238E27FC236}">
                <a16:creationId xmlns:a16="http://schemas.microsoft.com/office/drawing/2014/main" id="{5765A9FB-648E-959C-28ED-38B9E680615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906862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a:extLst>
            <a:ext uri="{FF2B5EF4-FFF2-40B4-BE49-F238E27FC236}">
              <a16:creationId xmlns:a16="http://schemas.microsoft.com/office/drawing/2014/main" id="{31DF3603-B90C-E85A-3BA4-021FBC104BA6}"/>
            </a:ext>
          </a:extLst>
        </p:cNvPr>
        <p:cNvGrpSpPr/>
        <p:nvPr/>
      </p:nvGrpSpPr>
      <p:grpSpPr>
        <a:xfrm>
          <a:off x="0" y="0"/>
          <a:ext cx="0" cy="0"/>
          <a:chOff x="0" y="0"/>
          <a:chExt cx="0" cy="0"/>
        </a:xfrm>
      </p:grpSpPr>
      <p:sp>
        <p:nvSpPr>
          <p:cNvPr id="58" name="Google Shape;58;g5fab984687_2_0:notes">
            <a:extLst>
              <a:ext uri="{FF2B5EF4-FFF2-40B4-BE49-F238E27FC236}">
                <a16:creationId xmlns:a16="http://schemas.microsoft.com/office/drawing/2014/main" id="{7E4F9E3F-281C-99B0-C36B-EBAA663D8C5E}"/>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dirty="0"/>
          </a:p>
        </p:txBody>
      </p:sp>
      <p:sp>
        <p:nvSpPr>
          <p:cNvPr id="59" name="Google Shape;59;g5fab984687_2_0:notes">
            <a:extLst>
              <a:ext uri="{FF2B5EF4-FFF2-40B4-BE49-F238E27FC236}">
                <a16:creationId xmlns:a16="http://schemas.microsoft.com/office/drawing/2014/main" id="{19D15949-A0F5-E877-78C7-0F3F8BE63E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6905515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5fab984687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dirty="0"/>
          </a:p>
        </p:txBody>
      </p:sp>
      <p:sp>
        <p:nvSpPr>
          <p:cNvPr id="59" name="Google Shape;59;g5fab984687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481233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5fab984687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dirty="0"/>
          </a:p>
        </p:txBody>
      </p:sp>
      <p:sp>
        <p:nvSpPr>
          <p:cNvPr id="59" name="Google Shape;59;g5fab984687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38455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indent="0">
              <a:buNone/>
            </a:pPr>
            <a:r>
              <a:rPr lang="en-US" b="1" spc="-5">
                <a:solidFill>
                  <a:srgbClr val="223366"/>
                </a:solidFill>
              </a:rPr>
              <a:t>Thank You !!</a:t>
            </a:r>
            <a:endParaRPr lang="en-US" sz="1100" b="1" spc="-5">
              <a:solidFill>
                <a:srgbClr val="223366"/>
              </a:solidFill>
            </a:endParaRPr>
          </a:p>
        </p:txBody>
      </p:sp>
    </p:spTree>
    <p:extLst>
      <p:ext uri="{BB962C8B-B14F-4D97-AF65-F5344CB8AC3E}">
        <p14:creationId xmlns:p14="http://schemas.microsoft.com/office/powerpoint/2010/main" val="2544203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28378783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userDrawn="1">
  <p:cSld name="Title and body">
    <p:spTree>
      <p:nvGrpSpPr>
        <p:cNvPr id="1" name="Shape 13"/>
        <p:cNvGrpSpPr/>
        <p:nvPr/>
      </p:nvGrpSpPr>
      <p:grpSpPr>
        <a:xfrm>
          <a:off x="0" y="0"/>
          <a:ext cx="0" cy="0"/>
          <a:chOff x="0" y="0"/>
          <a:chExt cx="0" cy="0"/>
        </a:xfrm>
      </p:grpSpPr>
    </p:spTree>
    <p:extLst>
      <p:ext uri="{BB962C8B-B14F-4D97-AF65-F5344CB8AC3E}">
        <p14:creationId xmlns:p14="http://schemas.microsoft.com/office/powerpoint/2010/main" val="27718775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42826647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2.jpg"/><Relationship Id="rId5" Type="http://schemas.openxmlformats.org/officeDocument/2006/relationships/image" Target="../media/image1.png"/><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pic>
        <p:nvPicPr>
          <p:cNvPr id="13" name="Google Shape;110;p4" descr="A close up of a sign&#10;&#10;Description automatically generated">
            <a:extLst>
              <a:ext uri="{FF2B5EF4-FFF2-40B4-BE49-F238E27FC236}">
                <a16:creationId xmlns:a16="http://schemas.microsoft.com/office/drawing/2014/main" id="{CE849A3B-BCF0-B774-F89E-81965C71F93E}"/>
              </a:ext>
            </a:extLst>
          </p:cNvPr>
          <p:cNvPicPr preferRelativeResize="0"/>
          <p:nvPr userDrawn="1"/>
        </p:nvPicPr>
        <p:blipFill rotWithShape="1">
          <a:blip r:embed="rId5">
            <a:alphaModFix/>
          </a:blip>
          <a:srcRect/>
          <a:stretch/>
        </p:blipFill>
        <p:spPr>
          <a:xfrm>
            <a:off x="10072688" y="78002"/>
            <a:ext cx="1800225" cy="575514"/>
          </a:xfrm>
          <a:prstGeom prst="rect">
            <a:avLst/>
          </a:prstGeom>
          <a:noFill/>
          <a:ln>
            <a:noFill/>
          </a:ln>
        </p:spPr>
      </p:pic>
      <p:sp>
        <p:nvSpPr>
          <p:cNvPr id="15" name="Rectangle 14">
            <a:extLst>
              <a:ext uri="{FF2B5EF4-FFF2-40B4-BE49-F238E27FC236}">
                <a16:creationId xmlns:a16="http://schemas.microsoft.com/office/drawing/2014/main" id="{E153E6A6-60E4-FE14-1CBC-8CC211274D1C}"/>
              </a:ext>
            </a:extLst>
          </p:cNvPr>
          <p:cNvSpPr/>
          <p:nvPr userDrawn="1"/>
        </p:nvSpPr>
        <p:spPr>
          <a:xfrm>
            <a:off x="1" y="0"/>
            <a:ext cx="9829800" cy="717630"/>
          </a:xfrm>
          <a:prstGeom prst="rect">
            <a:avLst/>
          </a:prstGeom>
          <a:solidFill>
            <a:srgbClr val="213264"/>
          </a:solidFill>
          <a:ln>
            <a:solidFill>
              <a:srgbClr val="21326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Rectangle 18">
            <a:extLst>
              <a:ext uri="{FF2B5EF4-FFF2-40B4-BE49-F238E27FC236}">
                <a16:creationId xmlns:a16="http://schemas.microsoft.com/office/drawing/2014/main" id="{2C7CE881-772B-9023-3054-4B219B75D755}"/>
              </a:ext>
            </a:extLst>
          </p:cNvPr>
          <p:cNvSpPr/>
          <p:nvPr userDrawn="1"/>
        </p:nvSpPr>
        <p:spPr>
          <a:xfrm>
            <a:off x="9888967" y="-419"/>
            <a:ext cx="112283" cy="732357"/>
          </a:xfrm>
          <a:prstGeom prst="rect">
            <a:avLst/>
          </a:prstGeom>
          <a:solidFill>
            <a:srgbClr val="7FB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31" name="Picture 30" descr="A blue and white background&#10;&#10;Description automatically generated with medium confidence">
            <a:extLst>
              <a:ext uri="{FF2B5EF4-FFF2-40B4-BE49-F238E27FC236}">
                <a16:creationId xmlns:a16="http://schemas.microsoft.com/office/drawing/2014/main" id="{16A7B69A-9B14-87FE-841D-37F0A91D141D}"/>
              </a:ext>
            </a:extLst>
          </p:cNvPr>
          <p:cNvPicPr>
            <a:picLocks noChangeAspect="1"/>
          </p:cNvPicPr>
          <p:nvPr userDrawn="1"/>
        </p:nvPicPr>
        <p:blipFill rotWithShape="1">
          <a:blip r:embed="rId6">
            <a:alphaModFix amt="16000"/>
          </a:blip>
          <a:srcRect t="24724" r="1619" b="63695"/>
          <a:stretch/>
        </p:blipFill>
        <p:spPr>
          <a:xfrm>
            <a:off x="0" y="-1"/>
            <a:ext cx="9839325" cy="723901"/>
          </a:xfrm>
          <a:prstGeom prst="rect">
            <a:avLst/>
          </a:prstGeom>
        </p:spPr>
      </p:pic>
      <p:sp>
        <p:nvSpPr>
          <p:cNvPr id="2" name="Rectangle 1">
            <a:extLst>
              <a:ext uri="{FF2B5EF4-FFF2-40B4-BE49-F238E27FC236}">
                <a16:creationId xmlns:a16="http://schemas.microsoft.com/office/drawing/2014/main" id="{37B91A16-5D54-2FC0-B0FD-A78085FC1313}"/>
              </a:ext>
            </a:extLst>
          </p:cNvPr>
          <p:cNvSpPr/>
          <p:nvPr userDrawn="1"/>
        </p:nvSpPr>
        <p:spPr>
          <a:xfrm>
            <a:off x="11925300" y="-419"/>
            <a:ext cx="266700" cy="732357"/>
          </a:xfrm>
          <a:prstGeom prst="rect">
            <a:avLst/>
          </a:prstGeom>
          <a:solidFill>
            <a:srgbClr val="FED5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 bg1="lt1" tx1="dk1" bg2="dk2" tx2="lt2" accent1="accent1" accent2="accent2" accent3="accent3" accent4="accent4" accent5="accent5" accent6="accent6" hlink="hlink" folHlink="folHlink"/>
  <p:sldLayoutIdLst>
    <p:sldLayoutId id="2147483701" r:id="rId1"/>
    <p:sldLayoutId id="2147483714" r:id="rId2"/>
    <p:sldLayoutId id="2147483727" r:id="rId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xml"/><Relationship Id="rId1" Type="http://schemas.openxmlformats.org/officeDocument/2006/relationships/slideLayout" Target="../slideLayouts/slideLayout3.xml"/><Relationship Id="rId5" Type="http://schemas.openxmlformats.org/officeDocument/2006/relationships/image" Target="../media/image5.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www.freepik.com/"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hyperlink" Target="https://www.freepik.com/"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www.freepik.com/"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www.freepik.com/"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Chandresh2601/Crop-Recommendation-System./tree/main"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hyperlink" Target="https://www.google.com/search?q=https://kaggle.com/datasets/cp-crop-recommendation" TargetMode="Externa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107AE-7741-CFD9-BE8D-2CAE1C48C6B7}"/>
            </a:ext>
          </a:extLst>
        </p:cNvPr>
        <p:cNvGrpSpPr/>
        <p:nvPr/>
      </p:nvGrpSpPr>
      <p:grpSpPr>
        <a:xfrm>
          <a:off x="0" y="0"/>
          <a:ext cx="0" cy="0"/>
          <a:chOff x="0" y="0"/>
          <a:chExt cx="0" cy="0"/>
        </a:xfrm>
      </p:grpSpPr>
      <p:pic>
        <p:nvPicPr>
          <p:cNvPr id="6" name="Picture 5" descr="A person sitting at a desk with a computer&#10;&#10;Description automatically generated">
            <a:extLst>
              <a:ext uri="{FF2B5EF4-FFF2-40B4-BE49-F238E27FC236}">
                <a16:creationId xmlns:a16="http://schemas.microsoft.com/office/drawing/2014/main" id="{2F44FAA3-CD3A-C2DE-34BE-DD7BBE78D64E}"/>
              </a:ext>
            </a:extLst>
          </p:cNvPr>
          <p:cNvPicPr>
            <a:picLocks noChangeAspect="1"/>
          </p:cNvPicPr>
          <p:nvPr/>
        </p:nvPicPr>
        <p:blipFill>
          <a:blip r:embed="rId3"/>
          <a:stretch>
            <a:fillRect/>
          </a:stretch>
        </p:blipFill>
        <p:spPr>
          <a:xfrm>
            <a:off x="0" y="9331"/>
            <a:ext cx="12192000" cy="6858000"/>
          </a:xfrm>
          <a:prstGeom prst="rect">
            <a:avLst/>
          </a:prstGeom>
        </p:spPr>
      </p:pic>
      <p:sp>
        <p:nvSpPr>
          <p:cNvPr id="5" name="Rectangle: Rounded Corners 4">
            <a:extLst>
              <a:ext uri="{FF2B5EF4-FFF2-40B4-BE49-F238E27FC236}">
                <a16:creationId xmlns:a16="http://schemas.microsoft.com/office/drawing/2014/main" id="{DF167754-280A-4FED-560B-C3D6EB2185DE}"/>
              </a:ext>
            </a:extLst>
          </p:cNvPr>
          <p:cNvSpPr/>
          <p:nvPr/>
        </p:nvSpPr>
        <p:spPr>
          <a:xfrm>
            <a:off x="5873750" y="584200"/>
            <a:ext cx="4673600" cy="977900"/>
          </a:xfrm>
          <a:prstGeom prst="roundRect">
            <a:avLst/>
          </a:prstGeom>
          <a:solidFill>
            <a:srgbClr val="EBEEF9"/>
          </a:solidFill>
          <a:ln>
            <a:solidFill>
              <a:schemeClr val="bg1">
                <a:lumMod val="8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TextBox 17">
            <a:extLst>
              <a:ext uri="{FF2B5EF4-FFF2-40B4-BE49-F238E27FC236}">
                <a16:creationId xmlns:a16="http://schemas.microsoft.com/office/drawing/2014/main" id="{CA298952-1BDB-C0AE-516A-649A0AADEA76}"/>
              </a:ext>
            </a:extLst>
          </p:cNvPr>
          <p:cNvSpPr txBox="1"/>
          <p:nvPr/>
        </p:nvSpPr>
        <p:spPr>
          <a:xfrm>
            <a:off x="6359008" y="3429000"/>
            <a:ext cx="4663439" cy="707886"/>
          </a:xfrm>
          <a:prstGeom prst="rect">
            <a:avLst/>
          </a:prstGeom>
          <a:noFill/>
        </p:spPr>
        <p:txBody>
          <a:bodyPr wrap="square" rtlCol="0">
            <a:spAutoFit/>
          </a:bodyPr>
          <a:lstStyle/>
          <a:p>
            <a:pPr algn="r"/>
            <a:r>
              <a:rPr lang="en-US" sz="4000" b="1" dirty="0">
                <a:solidFill>
                  <a:schemeClr val="bg1"/>
                </a:solidFill>
                <a:latin typeface="Arial" panose="020B0604020202020204" pitchFamily="34" charset="0"/>
                <a:cs typeface="Arial" panose="020B0604020202020204" pitchFamily="34" charset="0"/>
              </a:rPr>
              <a:t>Case Study Title</a:t>
            </a:r>
          </a:p>
        </p:txBody>
      </p:sp>
      <p:grpSp>
        <p:nvGrpSpPr>
          <p:cNvPr id="4" name="Group 3">
            <a:extLst>
              <a:ext uri="{FF2B5EF4-FFF2-40B4-BE49-F238E27FC236}">
                <a16:creationId xmlns:a16="http://schemas.microsoft.com/office/drawing/2014/main" id="{B14EC782-EC27-B496-4307-079310BF069F}"/>
              </a:ext>
            </a:extLst>
          </p:cNvPr>
          <p:cNvGrpSpPr/>
          <p:nvPr/>
        </p:nvGrpSpPr>
        <p:grpSpPr>
          <a:xfrm>
            <a:off x="6096000" y="707886"/>
            <a:ext cx="4218482" cy="664378"/>
            <a:chOff x="2375536" y="1112060"/>
            <a:chExt cx="5261230" cy="828603"/>
          </a:xfrm>
        </p:grpSpPr>
        <p:pic>
          <p:nvPicPr>
            <p:cNvPr id="19" name="Picture 18" descr="A close up of a logo&#10;&#10;Description automatically generated">
              <a:extLst>
                <a:ext uri="{FF2B5EF4-FFF2-40B4-BE49-F238E27FC236}">
                  <a16:creationId xmlns:a16="http://schemas.microsoft.com/office/drawing/2014/main" id="{6BB3DC08-2A20-1075-63BC-E8C04F7BBCB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61375" y="1270168"/>
              <a:ext cx="1575391" cy="512386"/>
            </a:xfrm>
            <a:prstGeom prst="rect">
              <a:avLst/>
            </a:prstGeom>
          </p:spPr>
        </p:pic>
        <p:pic>
          <p:nvPicPr>
            <p:cNvPr id="21" name="Picture 20" descr="A yellow and red shell logo&#10;&#10;Description automatically generated">
              <a:extLst>
                <a:ext uri="{FF2B5EF4-FFF2-40B4-BE49-F238E27FC236}">
                  <a16:creationId xmlns:a16="http://schemas.microsoft.com/office/drawing/2014/main" id="{B15A103C-65F3-1F0A-3229-6389A232569A}"/>
                </a:ext>
              </a:extLst>
            </p:cNvPr>
            <p:cNvPicPr>
              <a:picLocks noChangeAspect="1"/>
            </p:cNvPicPr>
            <p:nvPr/>
          </p:nvPicPr>
          <p:blipFill>
            <a:blip r:embed="rId5"/>
            <a:stretch>
              <a:fillRect/>
            </a:stretch>
          </p:blipFill>
          <p:spPr>
            <a:xfrm>
              <a:off x="2375536" y="1112060"/>
              <a:ext cx="985475" cy="828603"/>
            </a:xfrm>
            <a:prstGeom prst="rect">
              <a:avLst/>
            </a:prstGeom>
          </p:spPr>
        </p:pic>
      </p:grpSp>
      <p:sp>
        <p:nvSpPr>
          <p:cNvPr id="2" name="TextBox 1">
            <a:extLst>
              <a:ext uri="{FF2B5EF4-FFF2-40B4-BE49-F238E27FC236}">
                <a16:creationId xmlns:a16="http://schemas.microsoft.com/office/drawing/2014/main" id="{F6F19223-1516-B9D6-0D92-8A75320E6DC6}"/>
              </a:ext>
            </a:extLst>
          </p:cNvPr>
          <p:cNvSpPr txBox="1"/>
          <p:nvPr/>
        </p:nvSpPr>
        <p:spPr>
          <a:xfrm>
            <a:off x="6898249" y="4657611"/>
            <a:ext cx="2047355" cy="1528945"/>
          </a:xfrm>
          <a:prstGeom prst="rect">
            <a:avLst/>
          </a:prstGeom>
          <a:noFill/>
        </p:spPr>
        <p:txBody>
          <a:bodyPr wrap="none" rtlCol="0">
            <a:spAutoFit/>
          </a:bodyPr>
          <a:lstStyle/>
          <a:p>
            <a:r>
              <a:rPr lang="en-US">
                <a:solidFill>
                  <a:schemeClr val="bg1"/>
                </a:solidFill>
              </a:rPr>
              <a:t>Atmiya </a:t>
            </a:r>
            <a:r>
              <a:rPr lang="en-US" dirty="0">
                <a:solidFill>
                  <a:schemeClr val="bg1"/>
                </a:solidFill>
              </a:rPr>
              <a:t>University</a:t>
            </a:r>
          </a:p>
          <a:p>
            <a:r>
              <a:rPr lang="en-US" dirty="0">
                <a:solidFill>
                  <a:schemeClr val="bg1"/>
                </a:solidFill>
              </a:rPr>
              <a:t>Chandresh Dabhi</a:t>
            </a:r>
          </a:p>
          <a:p>
            <a:r>
              <a:rPr lang="en-US" dirty="0">
                <a:solidFill>
                  <a:schemeClr val="bg1"/>
                </a:solidFill>
              </a:rPr>
              <a:t>Rinav Cholera</a:t>
            </a:r>
          </a:p>
          <a:p>
            <a:r>
              <a:rPr lang="en-US" dirty="0">
                <a:solidFill>
                  <a:schemeClr val="bg1"/>
                </a:solidFill>
              </a:rPr>
              <a:t>Krutarth </a:t>
            </a:r>
            <a:r>
              <a:rPr lang="en-US" dirty="0" err="1">
                <a:solidFill>
                  <a:schemeClr val="bg1"/>
                </a:solidFill>
              </a:rPr>
              <a:t>Chatvani</a:t>
            </a:r>
            <a:endParaRPr lang="en-US" dirty="0">
              <a:solidFill>
                <a:schemeClr val="bg1"/>
              </a:solidFill>
            </a:endParaRPr>
          </a:p>
          <a:p>
            <a:r>
              <a:rPr lang="en-US" dirty="0">
                <a:solidFill>
                  <a:schemeClr val="bg1"/>
                </a:solidFill>
              </a:rPr>
              <a:t>09/1/2026</a:t>
            </a:r>
            <a:endParaRPr lang="en-IN" dirty="0">
              <a:solidFill>
                <a:schemeClr val="bg1"/>
              </a:solidFill>
            </a:endParaRPr>
          </a:p>
        </p:txBody>
      </p:sp>
    </p:spTree>
    <p:extLst>
      <p:ext uri="{BB962C8B-B14F-4D97-AF65-F5344CB8AC3E}">
        <p14:creationId xmlns:p14="http://schemas.microsoft.com/office/powerpoint/2010/main" val="4988540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0">
          <a:extLst>
            <a:ext uri="{FF2B5EF4-FFF2-40B4-BE49-F238E27FC236}">
              <a16:creationId xmlns:a16="http://schemas.microsoft.com/office/drawing/2014/main" id="{9EAFFD69-8A93-ACB5-F2C9-A28EC6902F1C}"/>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A7804F0F-D945-868D-6989-BC8F35292AFC}"/>
              </a:ext>
            </a:extLst>
          </p:cNvPr>
          <p:cNvSpPr txBox="1"/>
          <p:nvPr/>
        </p:nvSpPr>
        <p:spPr>
          <a:xfrm>
            <a:off x="202071" y="972537"/>
            <a:ext cx="5904091" cy="400110"/>
          </a:xfrm>
          <a:prstGeom prst="rect">
            <a:avLst/>
          </a:prstGeom>
          <a:noFill/>
        </p:spPr>
        <p:txBody>
          <a:bodyPr wrap="square">
            <a:spAutoFit/>
          </a:bodyPr>
          <a:lstStyle/>
          <a:p>
            <a:r>
              <a:rPr lang="en-IN" sz="2000" b="1" dirty="0">
                <a:solidFill>
                  <a:srgbClr val="213163"/>
                </a:solidFill>
              </a:rPr>
              <a:t>Dataset Overview</a:t>
            </a:r>
          </a:p>
        </p:txBody>
      </p:sp>
      <p:sp>
        <p:nvSpPr>
          <p:cNvPr id="2" name="Content Placeholder 2">
            <a:extLst>
              <a:ext uri="{FF2B5EF4-FFF2-40B4-BE49-F238E27FC236}">
                <a16:creationId xmlns:a16="http://schemas.microsoft.com/office/drawing/2014/main" id="{517E990F-3D74-1CD2-E0DE-BA7D8581226A}"/>
              </a:ext>
            </a:extLst>
          </p:cNvPr>
          <p:cNvSpPr txBox="1">
            <a:spLocks/>
          </p:cNvSpPr>
          <p:nvPr/>
        </p:nvSpPr>
        <p:spPr>
          <a:xfrm>
            <a:off x="202071" y="1357019"/>
            <a:ext cx="11795184" cy="5359848"/>
          </a:xfrm>
          <a:prstGeom prst="rect">
            <a:avLst/>
          </a:prstGeom>
        </p:spPr>
        <p:txBody>
          <a:bodyPr lIns="91440" tIns="45720" rIns="91440" bIns="4572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r>
              <a:rPr lang="en-US" sz="1850" b="1" dirty="0"/>
              <a:t>Dataset Description</a:t>
            </a:r>
            <a:r>
              <a:rPr lang="en-US" sz="1850" dirty="0"/>
              <a:t>:</a:t>
            </a:r>
          </a:p>
          <a:p>
            <a:pPr marL="285750" indent="-285750">
              <a:lnSpc>
                <a:spcPct val="150000"/>
              </a:lnSpc>
              <a:buChar char="•"/>
            </a:pPr>
            <a:r>
              <a:rPr lang="en-US" sz="1800" dirty="0"/>
              <a:t>Source</a:t>
            </a:r>
            <a:r>
              <a:rPr lang="en-US" sz="1800" b="1" dirty="0"/>
              <a:t>:</a:t>
            </a:r>
            <a:r>
              <a:rPr lang="en-US" sz="1800" dirty="0"/>
              <a:t> Open-source Crop Recommendation dataset from Kaggle.</a:t>
            </a:r>
          </a:p>
          <a:p>
            <a:pPr marL="285750" indent="-285750">
              <a:lnSpc>
                <a:spcPct val="150000"/>
              </a:lnSpc>
              <a:buChar char="•"/>
            </a:pPr>
            <a:r>
              <a:rPr lang="en-US" sz="1800" dirty="0"/>
              <a:t>Size: 2,200 records with 8 columns.</a:t>
            </a:r>
          </a:p>
          <a:p>
            <a:pPr marL="285750" indent="-285750">
              <a:lnSpc>
                <a:spcPct val="150000"/>
              </a:lnSpc>
              <a:buChar char="•"/>
            </a:pPr>
            <a:r>
              <a:rPr lang="en-US" sz="1800" dirty="0"/>
              <a:t>Key Features: Soil nutrients (N, P, K), pH level, and climatic factors (Temperature, Humidity, Rainfall).</a:t>
            </a:r>
          </a:p>
          <a:p>
            <a:pPr marL="285750" indent="-285750">
              <a:lnSpc>
                <a:spcPct val="150000"/>
              </a:lnSpc>
              <a:buChar char="•"/>
            </a:pPr>
            <a:endParaRPr lang="en-US" sz="2000" dirty="0"/>
          </a:p>
          <a:p>
            <a:pPr marL="285750" indent="-285750">
              <a:lnSpc>
                <a:spcPct val="150000"/>
              </a:lnSpc>
              <a:buChar char="•"/>
            </a:pPr>
            <a:r>
              <a:rPr lang="en-US" sz="1850" b="1" dirty="0"/>
              <a:t>Data Preprocessing:</a:t>
            </a:r>
            <a:br>
              <a:rPr lang="en-US" sz="1850" dirty="0"/>
            </a:br>
            <a:r>
              <a:rPr lang="en-US" sz="1800" dirty="0"/>
              <a:t>Cleaning: Used </a:t>
            </a:r>
            <a:r>
              <a:rPr lang="en-US" sz="1800" err="1">
                <a:latin typeface="Consolas"/>
              </a:rPr>
              <a:t>df.isnull</a:t>
            </a:r>
            <a:r>
              <a:rPr lang="en-US" sz="1800" dirty="0">
                <a:latin typeface="Consolas"/>
              </a:rPr>
              <a:t>().sum()</a:t>
            </a:r>
            <a:r>
              <a:rPr lang="en-US" sz="1800" dirty="0"/>
              <a:t> to confirm zero missing values.</a:t>
            </a:r>
          </a:p>
          <a:p>
            <a:pPr marL="285750" indent="-285750">
              <a:lnSpc>
                <a:spcPct val="150000"/>
              </a:lnSpc>
              <a:buChar char="•"/>
            </a:pPr>
            <a:r>
              <a:rPr lang="en-US" sz="1800" dirty="0"/>
              <a:t>Outlier Handling: Applied the </a:t>
            </a:r>
            <a:r>
              <a:rPr lang="en-US" sz="1800" b="1" dirty="0"/>
              <a:t>IQR (Interquartile Range) Method</a:t>
            </a:r>
            <a:r>
              <a:rPr lang="en-US" sz="1800" dirty="0"/>
              <a:t> to remove extreme sensor readings in Rainfall and Potassium (K).</a:t>
            </a:r>
          </a:p>
          <a:p>
            <a:pPr marL="285750" indent="-285750">
              <a:lnSpc>
                <a:spcPct val="150000"/>
              </a:lnSpc>
              <a:buChar char="•"/>
            </a:pPr>
            <a:r>
              <a:rPr lang="en-US" sz="1800" dirty="0"/>
              <a:t>Transformation: Used Label Encoding to convert the 22 crop names into numeric values for the model.</a:t>
            </a:r>
          </a:p>
          <a:p>
            <a:pPr marL="285750" indent="-285750">
              <a:lnSpc>
                <a:spcPct val="150000"/>
              </a:lnSpc>
              <a:buChar char="•"/>
            </a:pPr>
            <a:r>
              <a:rPr lang="en-US" sz="1800" dirty="0"/>
              <a:t>Normalization: Applied </a:t>
            </a:r>
            <a:r>
              <a:rPr lang="en-US" sz="1800" b="1" err="1"/>
              <a:t>StandardScaler</a:t>
            </a:r>
            <a:r>
              <a:rPr lang="en-US" sz="1800" dirty="0"/>
              <a:t> to scale features so that Rainfall (large numbers) does not dominate pH (small numbers) during training.</a:t>
            </a:r>
          </a:p>
          <a:p>
            <a:endParaRPr lang="en-US" sz="1850" dirty="0"/>
          </a:p>
        </p:txBody>
      </p:sp>
    </p:spTree>
    <p:extLst>
      <p:ext uri="{BB962C8B-B14F-4D97-AF65-F5344CB8AC3E}">
        <p14:creationId xmlns:p14="http://schemas.microsoft.com/office/powerpoint/2010/main" val="14793793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sp>
        <p:nvSpPr>
          <p:cNvPr id="8" name="Content Placeholder 2">
            <a:extLst>
              <a:ext uri="{FF2B5EF4-FFF2-40B4-BE49-F238E27FC236}">
                <a16:creationId xmlns:a16="http://schemas.microsoft.com/office/drawing/2014/main" id="{60187D97-AC02-5BCF-D768-8D617B7921FC}"/>
              </a:ext>
            </a:extLst>
          </p:cNvPr>
          <p:cNvSpPr txBox="1">
            <a:spLocks/>
          </p:cNvSpPr>
          <p:nvPr/>
        </p:nvSpPr>
        <p:spPr>
          <a:xfrm>
            <a:off x="202071" y="1365744"/>
            <a:ext cx="11696700" cy="4883301"/>
          </a:xfrm>
          <a:prstGeom prst="rect">
            <a:avLst/>
          </a:prstGeom>
        </p:spPr>
        <p:txBody>
          <a:bodyPr lIns="91440" tIns="45720" rIns="91440" bIns="4572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a:lnSpc>
                <a:spcPct val="150000"/>
              </a:lnSpc>
            </a:pPr>
            <a:r>
              <a:rPr lang="en-US" sz="1850" b="1"/>
              <a:t>Brief Overview:</a:t>
            </a:r>
            <a:r>
              <a:rPr lang="en-US" sz="1850"/>
              <a:t> Current agricultural practices in many regions rely on traditional intuition rather than scientific data, leading to a "one-size-fits-all" approach to farming. This results in significant inefficiencies, where crops are planted in soil that cannot support their nutritional needs, leading to crop failure or the excessive use of chemical fertilizers to force growth.</a:t>
            </a:r>
            <a:endParaRPr lang="en-US"/>
          </a:p>
          <a:p>
            <a:pPr>
              <a:lnSpc>
                <a:spcPct val="150000"/>
              </a:lnSpc>
            </a:pPr>
            <a:r>
              <a:rPr lang="en-US" sz="1850" b="1"/>
              <a:t>Key Objectives:</a:t>
            </a:r>
            <a:endParaRPr lang="en-US"/>
          </a:p>
          <a:p>
            <a:pPr marL="285750" indent="-285750">
              <a:lnSpc>
                <a:spcPct val="150000"/>
              </a:lnSpc>
              <a:buChar char="•"/>
            </a:pPr>
            <a:r>
              <a:rPr lang="en-US" sz="1850" b="1"/>
              <a:t>Identify Soil-Crop Synergy:</a:t>
            </a:r>
            <a:r>
              <a:rPr lang="en-US" sz="1850"/>
              <a:t> To analyze how Nitrogen (N), Phosphorous (P), and Potassium (K) levels dictate the health of 22 different crop varieties.</a:t>
            </a:r>
            <a:endParaRPr lang="en-US"/>
          </a:p>
          <a:p>
            <a:pPr marL="285750" indent="-285750">
              <a:lnSpc>
                <a:spcPct val="150000"/>
              </a:lnSpc>
              <a:buChar char="•"/>
            </a:pPr>
            <a:r>
              <a:rPr lang="en-US" sz="1850" b="1"/>
              <a:t>Climate Adaptation:</a:t>
            </a:r>
            <a:r>
              <a:rPr lang="en-US" sz="1850"/>
              <a:t> To determine the threshold of Rainfall and Humidity required for sustainable yields without over-irrigation.</a:t>
            </a:r>
            <a:endParaRPr lang="en-US"/>
          </a:p>
          <a:p>
            <a:pPr marL="285750" indent="-285750">
              <a:lnSpc>
                <a:spcPct val="150000"/>
              </a:lnSpc>
              <a:buChar char="•"/>
            </a:pPr>
            <a:r>
              <a:rPr lang="en-US" sz="1850" b="1"/>
              <a:t>Reduce Environmental Footprint:</a:t>
            </a:r>
            <a:r>
              <a:rPr lang="en-US" sz="1850"/>
              <a:t> To create a recommendation logic that minimizes chemical runoff by matching crops to the existing natural nutrients of the soil.</a:t>
            </a:r>
            <a:endParaRPr lang="en-US"/>
          </a:p>
          <a:p>
            <a:pPr marL="285750" indent="-285750">
              <a:lnSpc>
                <a:spcPct val="150000"/>
              </a:lnSpc>
              <a:buChar char="•"/>
            </a:pPr>
            <a:r>
              <a:rPr lang="en-US" sz="1850" b="1"/>
              <a:t>Precision Decision Making:</a:t>
            </a:r>
            <a:r>
              <a:rPr lang="en-US" sz="1850"/>
              <a:t> To replace "trial and error" farming with an AI-driven system that provides a 99% accurate recommendation based on real-time environmental data.</a:t>
            </a:r>
            <a:endParaRPr lang="en-US"/>
          </a:p>
          <a:p>
            <a:pPr>
              <a:lnSpc>
                <a:spcPct val="150000"/>
              </a:lnSpc>
            </a:pPr>
            <a:endParaRPr lang="en-US" sz="1850" dirty="0"/>
          </a:p>
        </p:txBody>
      </p:sp>
      <p:sp>
        <p:nvSpPr>
          <p:cNvPr id="10" name="TextBox 9">
            <a:extLst>
              <a:ext uri="{FF2B5EF4-FFF2-40B4-BE49-F238E27FC236}">
                <a16:creationId xmlns:a16="http://schemas.microsoft.com/office/drawing/2014/main" id="{5DB1BC4A-9C06-38DD-7C54-031675AB8B42}"/>
              </a:ext>
            </a:extLst>
          </p:cNvPr>
          <p:cNvSpPr txBox="1"/>
          <p:nvPr/>
        </p:nvSpPr>
        <p:spPr>
          <a:xfrm>
            <a:off x="202071" y="972537"/>
            <a:ext cx="5904091" cy="400110"/>
          </a:xfrm>
          <a:prstGeom prst="rect">
            <a:avLst/>
          </a:prstGeom>
          <a:noFill/>
        </p:spPr>
        <p:txBody>
          <a:bodyPr wrap="square">
            <a:spAutoFit/>
          </a:bodyPr>
          <a:lstStyle/>
          <a:p>
            <a:r>
              <a:rPr lang="en-IN" sz="2000" b="1" dirty="0">
                <a:solidFill>
                  <a:srgbClr val="213163"/>
                </a:solidFill>
              </a:rPr>
              <a:t>Problem Statement</a:t>
            </a:r>
            <a:endParaRPr lang="en-IN" sz="2000" dirty="0">
              <a:solidFill>
                <a:srgbClr val="213163"/>
              </a:solidFill>
            </a:endParaRPr>
          </a:p>
        </p:txBody>
      </p:sp>
    </p:spTree>
    <p:extLst>
      <p:ext uri="{BB962C8B-B14F-4D97-AF65-F5344CB8AC3E}">
        <p14:creationId xmlns:p14="http://schemas.microsoft.com/office/powerpoint/2010/main" val="10662887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sp>
        <p:nvSpPr>
          <p:cNvPr id="6" name="TextBox 5">
            <a:extLst>
              <a:ext uri="{FF2B5EF4-FFF2-40B4-BE49-F238E27FC236}">
                <a16:creationId xmlns:a16="http://schemas.microsoft.com/office/drawing/2014/main" id="{8041DB6F-3EF1-B8E1-0B0C-6BB8EF6A90DC}"/>
              </a:ext>
            </a:extLst>
          </p:cNvPr>
          <p:cNvSpPr txBox="1"/>
          <p:nvPr/>
        </p:nvSpPr>
        <p:spPr>
          <a:xfrm>
            <a:off x="199809" y="6135329"/>
            <a:ext cx="795871" cy="276999"/>
          </a:xfrm>
          <a:prstGeom prst="rect">
            <a:avLst/>
          </a:prstGeom>
          <a:noFill/>
        </p:spPr>
        <p:txBody>
          <a:bodyPr wrap="square" rtlCol="0">
            <a:spAutoFit/>
          </a:bodyPr>
          <a:lstStyle/>
          <a:p>
            <a:pPr>
              <a:spcAft>
                <a:spcPts val="800"/>
              </a:spcAft>
            </a:pPr>
            <a:r>
              <a:rPr lang="en-IN" sz="1200" b="1" dirty="0">
                <a:latin typeface="+mn-lt"/>
              </a:rPr>
              <a:t>Source : </a:t>
            </a:r>
          </a:p>
        </p:txBody>
      </p:sp>
      <p:sp>
        <p:nvSpPr>
          <p:cNvPr id="7" name="TextBox 6">
            <a:extLst>
              <a:ext uri="{FF2B5EF4-FFF2-40B4-BE49-F238E27FC236}">
                <a16:creationId xmlns:a16="http://schemas.microsoft.com/office/drawing/2014/main" id="{7EA2C555-3BC3-F99C-66A0-2DF7D76A6867}"/>
              </a:ext>
            </a:extLst>
          </p:cNvPr>
          <p:cNvSpPr txBox="1"/>
          <p:nvPr/>
        </p:nvSpPr>
        <p:spPr>
          <a:xfrm>
            <a:off x="880529" y="6135329"/>
            <a:ext cx="1842351" cy="276999"/>
          </a:xfrm>
          <a:prstGeom prst="rect">
            <a:avLst/>
          </a:prstGeom>
          <a:noFill/>
        </p:spPr>
        <p:txBody>
          <a:bodyPr wrap="square" rtlCol="0">
            <a:spAutoFit/>
          </a:bodyPr>
          <a:lstStyle/>
          <a:p>
            <a:pPr>
              <a:spcAft>
                <a:spcPts val="800"/>
              </a:spcAft>
            </a:pPr>
            <a:r>
              <a:rPr lang="en-IN" sz="1200" dirty="0">
                <a:solidFill>
                  <a:srgbClr val="0000FF"/>
                </a:solidFill>
                <a:latin typeface="+mn-lt"/>
                <a:hlinkClick r:id="rId3">
                  <a:extLst>
                    <a:ext uri="{A12FA001-AC4F-418D-AE19-62706E023703}">
                      <ahyp:hlinkClr xmlns:ahyp="http://schemas.microsoft.com/office/drawing/2018/hyperlinkcolor" val="tx"/>
                    </a:ext>
                  </a:extLst>
                </a:hlinkClick>
              </a:rPr>
              <a:t>www.freepik.com/</a:t>
            </a:r>
            <a:endParaRPr lang="en-IN" sz="1200" dirty="0">
              <a:solidFill>
                <a:srgbClr val="0000FF"/>
              </a:solidFill>
              <a:latin typeface="+mn-lt"/>
            </a:endParaRPr>
          </a:p>
        </p:txBody>
      </p:sp>
      <p:cxnSp>
        <p:nvCxnSpPr>
          <p:cNvPr id="12" name="Straight Connector 11">
            <a:extLst>
              <a:ext uri="{FF2B5EF4-FFF2-40B4-BE49-F238E27FC236}">
                <a16:creationId xmlns:a16="http://schemas.microsoft.com/office/drawing/2014/main" id="{1365C893-2FDF-21FF-3B51-777D91501B7C}"/>
              </a:ext>
            </a:extLst>
          </p:cNvPr>
          <p:cNvCxnSpPr/>
          <p:nvPr/>
        </p:nvCxnSpPr>
        <p:spPr>
          <a:xfrm>
            <a:off x="0" y="6055360"/>
            <a:ext cx="12192000"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 name="Content Placeholder 2">
            <a:extLst>
              <a:ext uri="{FF2B5EF4-FFF2-40B4-BE49-F238E27FC236}">
                <a16:creationId xmlns:a16="http://schemas.microsoft.com/office/drawing/2014/main" id="{FCC299C6-A902-0E4E-F505-019C3D9286E4}"/>
              </a:ext>
            </a:extLst>
          </p:cNvPr>
          <p:cNvSpPr txBox="1">
            <a:spLocks/>
          </p:cNvSpPr>
          <p:nvPr/>
        </p:nvSpPr>
        <p:spPr>
          <a:xfrm>
            <a:off x="197331" y="1365550"/>
            <a:ext cx="6693378" cy="4897678"/>
          </a:xfrm>
          <a:prstGeom prst="rect">
            <a:avLst/>
          </a:prstGeom>
        </p:spPr>
        <p:txBody>
          <a:bodyPr lIns="91440" tIns="45720" rIns="91440" bIns="45720" anchor="t">
            <a:normAutofit fontScale="85000" lnSpcReduction="2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a:lnSpc>
                <a:spcPct val="150000"/>
              </a:lnSpc>
            </a:pPr>
            <a:r>
              <a:rPr lang="en-US" sz="1850" b="1" dirty="0"/>
              <a:t>Approach:</a:t>
            </a:r>
            <a:r>
              <a:rPr lang="en-US" sz="1850" dirty="0"/>
              <a:t> </a:t>
            </a:r>
            <a:endParaRPr lang="en-US" dirty="0"/>
          </a:p>
          <a:p>
            <a:pPr marL="285750" indent="-285750">
              <a:lnSpc>
                <a:spcPct val="150000"/>
              </a:lnSpc>
              <a:buChar char="•"/>
            </a:pPr>
            <a:r>
              <a:rPr lang="en-US" sz="1850" dirty="0"/>
              <a:t>Step 1: Data cleaning and handling missing values. </a:t>
            </a:r>
            <a:endParaRPr lang="en-US" dirty="0"/>
          </a:p>
          <a:p>
            <a:pPr marL="285750" indent="-285750">
              <a:lnSpc>
                <a:spcPct val="150000"/>
              </a:lnSpc>
              <a:buChar char="•"/>
            </a:pPr>
            <a:r>
              <a:rPr lang="en-US" sz="1850" dirty="0"/>
              <a:t>Step 2: Used the </a:t>
            </a:r>
            <a:r>
              <a:rPr lang="en-US" sz="1850" b="1" dirty="0"/>
              <a:t>IQR Method</a:t>
            </a:r>
            <a:r>
              <a:rPr lang="en-US" sz="1850" dirty="0"/>
              <a:t> to remove extreme outliers in Rainfall and Potassium (K). </a:t>
            </a:r>
            <a:endParaRPr lang="en-US" dirty="0"/>
          </a:p>
          <a:p>
            <a:pPr marL="285750" indent="-285750">
              <a:lnSpc>
                <a:spcPct val="150000"/>
              </a:lnSpc>
              <a:buChar char="•"/>
            </a:pPr>
            <a:r>
              <a:rPr lang="en-US" sz="1850" dirty="0"/>
              <a:t>Step 3</a:t>
            </a:r>
            <a:r>
              <a:rPr lang="en-US" sz="1850" b="1" dirty="0"/>
              <a:t>:</a:t>
            </a:r>
            <a:r>
              <a:rPr lang="en-US" sz="1850" dirty="0"/>
              <a:t> Applied </a:t>
            </a:r>
            <a:r>
              <a:rPr lang="en-US" sz="1850" b="1" dirty="0" err="1"/>
              <a:t>StandardScaler</a:t>
            </a:r>
            <a:r>
              <a:rPr lang="en-US" sz="1850" dirty="0"/>
              <a:t> to normalize feature ranges. </a:t>
            </a:r>
            <a:endParaRPr lang="en-US" dirty="0"/>
          </a:p>
          <a:p>
            <a:pPr marL="285750" indent="-285750">
              <a:lnSpc>
                <a:spcPct val="150000"/>
              </a:lnSpc>
              <a:buChar char="•"/>
            </a:pPr>
            <a:r>
              <a:rPr lang="en-US" sz="1850" dirty="0"/>
              <a:t>Step 4: Split data (80% Train / 20% Test) for model evaluation. </a:t>
            </a:r>
            <a:endParaRPr lang="en-US" dirty="0"/>
          </a:p>
          <a:p>
            <a:pPr>
              <a:lnSpc>
                <a:spcPct val="150000"/>
              </a:lnSpc>
            </a:pPr>
            <a:r>
              <a:rPr lang="en-US" sz="1850" b="1" dirty="0"/>
              <a:t>Algorithms Used:</a:t>
            </a:r>
            <a:r>
              <a:rPr lang="en-US" sz="1850" dirty="0"/>
              <a:t> </a:t>
            </a:r>
            <a:endParaRPr lang="en-US" dirty="0"/>
          </a:p>
          <a:p>
            <a:pPr marL="285750" indent="-285750">
              <a:lnSpc>
                <a:spcPct val="150000"/>
              </a:lnSpc>
              <a:buChar char="•"/>
            </a:pPr>
            <a:r>
              <a:rPr lang="en-US" sz="1850" dirty="0"/>
              <a:t>Random Forest Classifier: Chosen for its high precision in handling non-linear environmental datasets. </a:t>
            </a:r>
            <a:endParaRPr lang="en-US" dirty="0"/>
          </a:p>
          <a:p>
            <a:pPr marL="285750" indent="-285750">
              <a:lnSpc>
                <a:spcPct val="150000"/>
              </a:lnSpc>
              <a:buChar char="•"/>
            </a:pPr>
            <a:r>
              <a:rPr lang="en-US" sz="1850" err="1"/>
              <a:t>StandardScaler</a:t>
            </a:r>
            <a:r>
              <a:rPr lang="en-US" sz="1850" dirty="0"/>
              <a:t>: To ensure equal weight for all features like pH and Rainfall. </a:t>
            </a:r>
            <a:endParaRPr lang="en-US" dirty="0"/>
          </a:p>
          <a:p>
            <a:pPr>
              <a:lnSpc>
                <a:spcPct val="150000"/>
              </a:lnSpc>
            </a:pPr>
            <a:r>
              <a:rPr lang="en-US" sz="1850" b="1" dirty="0"/>
              <a:t>Evaluation Metrics:</a:t>
            </a:r>
            <a:r>
              <a:rPr lang="en-US" sz="1850" dirty="0"/>
              <a:t> </a:t>
            </a:r>
            <a:endParaRPr lang="en-US" dirty="0"/>
          </a:p>
          <a:p>
            <a:pPr marL="285750" indent="-285750">
              <a:lnSpc>
                <a:spcPct val="150000"/>
              </a:lnSpc>
              <a:buChar char="•"/>
            </a:pPr>
            <a:r>
              <a:rPr lang="en-US" sz="1850" dirty="0"/>
              <a:t>Accuracy Score: Achieved </a:t>
            </a:r>
            <a:r>
              <a:rPr lang="en-US" sz="1850" b="1" dirty="0"/>
              <a:t>99%</a:t>
            </a:r>
            <a:r>
              <a:rPr lang="en-US" sz="1850" dirty="0"/>
              <a:t> correct predictions. </a:t>
            </a:r>
            <a:endParaRPr lang="en-US" dirty="0"/>
          </a:p>
          <a:p>
            <a:pPr marL="285750" indent="-285750">
              <a:lnSpc>
                <a:spcPct val="150000"/>
              </a:lnSpc>
              <a:buChar char="•"/>
            </a:pPr>
            <a:r>
              <a:rPr lang="en-US" sz="1850" dirty="0"/>
              <a:t>Confusion Matrix: Used to analyze prediction errors between crop categories.</a:t>
            </a:r>
            <a:endParaRPr lang="en-US" dirty="0"/>
          </a:p>
          <a:p>
            <a:endParaRPr lang="en-US" sz="1850" dirty="0"/>
          </a:p>
        </p:txBody>
      </p:sp>
      <p:sp>
        <p:nvSpPr>
          <p:cNvPr id="5" name="TextBox 4">
            <a:extLst>
              <a:ext uri="{FF2B5EF4-FFF2-40B4-BE49-F238E27FC236}">
                <a16:creationId xmlns:a16="http://schemas.microsoft.com/office/drawing/2014/main" id="{0A86DC2D-04B5-6DF2-25D3-F5C8914AB624}"/>
              </a:ext>
            </a:extLst>
          </p:cNvPr>
          <p:cNvSpPr txBox="1"/>
          <p:nvPr/>
        </p:nvSpPr>
        <p:spPr>
          <a:xfrm>
            <a:off x="202071" y="972537"/>
            <a:ext cx="5904091" cy="400110"/>
          </a:xfrm>
          <a:prstGeom prst="rect">
            <a:avLst/>
          </a:prstGeom>
          <a:noFill/>
        </p:spPr>
        <p:txBody>
          <a:bodyPr wrap="square">
            <a:spAutoFit/>
          </a:bodyPr>
          <a:lstStyle/>
          <a:p>
            <a:r>
              <a:rPr lang="en-IN" sz="2000" b="1" dirty="0">
                <a:solidFill>
                  <a:srgbClr val="213163"/>
                </a:solidFill>
              </a:rPr>
              <a:t>Methodology</a:t>
            </a:r>
          </a:p>
        </p:txBody>
      </p:sp>
      <p:pic>
        <p:nvPicPr>
          <p:cNvPr id="2" name="Picture 1" descr="A screenshot of a computer screen&#10;&#10;AI-generated content may be incorrect.">
            <a:extLst>
              <a:ext uri="{FF2B5EF4-FFF2-40B4-BE49-F238E27FC236}">
                <a16:creationId xmlns:a16="http://schemas.microsoft.com/office/drawing/2014/main" id="{94D3874B-D88A-1A85-B237-BA1BD39D6A43}"/>
              </a:ext>
            </a:extLst>
          </p:cNvPr>
          <p:cNvPicPr>
            <a:picLocks noChangeAspect="1"/>
          </p:cNvPicPr>
          <p:nvPr/>
        </p:nvPicPr>
        <p:blipFill>
          <a:blip r:embed="rId4"/>
          <a:stretch>
            <a:fillRect/>
          </a:stretch>
        </p:blipFill>
        <p:spPr>
          <a:xfrm>
            <a:off x="6879477" y="861834"/>
            <a:ext cx="5305425" cy="5551278"/>
          </a:xfrm>
          <a:prstGeom prst="rect">
            <a:avLst/>
          </a:prstGeom>
        </p:spPr>
      </p:pic>
    </p:spTree>
    <p:extLst>
      <p:ext uri="{BB962C8B-B14F-4D97-AF65-F5344CB8AC3E}">
        <p14:creationId xmlns:p14="http://schemas.microsoft.com/office/powerpoint/2010/main" val="20254300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0">
          <a:extLst>
            <a:ext uri="{FF2B5EF4-FFF2-40B4-BE49-F238E27FC236}">
              <a16:creationId xmlns:a16="http://schemas.microsoft.com/office/drawing/2014/main" id="{08ADD651-E02D-6A0F-1E19-CB2116BE51A0}"/>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8766EFA-A954-6AF4-DE00-197FE9726512}"/>
              </a:ext>
            </a:extLst>
          </p:cNvPr>
          <p:cNvSpPr txBox="1"/>
          <p:nvPr/>
        </p:nvSpPr>
        <p:spPr>
          <a:xfrm>
            <a:off x="199809" y="6135329"/>
            <a:ext cx="795871" cy="276999"/>
          </a:xfrm>
          <a:prstGeom prst="rect">
            <a:avLst/>
          </a:prstGeom>
          <a:noFill/>
        </p:spPr>
        <p:txBody>
          <a:bodyPr wrap="square" rtlCol="0">
            <a:spAutoFit/>
          </a:bodyPr>
          <a:lstStyle/>
          <a:p>
            <a:pPr>
              <a:spcAft>
                <a:spcPts val="800"/>
              </a:spcAft>
            </a:pPr>
            <a:r>
              <a:rPr lang="en-IN" sz="1200" b="1" dirty="0">
                <a:latin typeface="+mn-lt"/>
              </a:rPr>
              <a:t>Source : </a:t>
            </a:r>
          </a:p>
        </p:txBody>
      </p:sp>
      <p:sp>
        <p:nvSpPr>
          <p:cNvPr id="7" name="TextBox 6">
            <a:extLst>
              <a:ext uri="{FF2B5EF4-FFF2-40B4-BE49-F238E27FC236}">
                <a16:creationId xmlns:a16="http://schemas.microsoft.com/office/drawing/2014/main" id="{B740A9D2-D722-480E-3DD4-6ADE2D9EDEA2}"/>
              </a:ext>
            </a:extLst>
          </p:cNvPr>
          <p:cNvSpPr txBox="1"/>
          <p:nvPr/>
        </p:nvSpPr>
        <p:spPr>
          <a:xfrm>
            <a:off x="880529" y="6135329"/>
            <a:ext cx="1842351" cy="276999"/>
          </a:xfrm>
          <a:prstGeom prst="rect">
            <a:avLst/>
          </a:prstGeom>
          <a:noFill/>
        </p:spPr>
        <p:txBody>
          <a:bodyPr wrap="square" rtlCol="0">
            <a:spAutoFit/>
          </a:bodyPr>
          <a:lstStyle/>
          <a:p>
            <a:pPr>
              <a:spcAft>
                <a:spcPts val="800"/>
              </a:spcAft>
            </a:pPr>
            <a:r>
              <a:rPr lang="en-IN" sz="1200" dirty="0">
                <a:solidFill>
                  <a:srgbClr val="0000FF"/>
                </a:solidFill>
                <a:latin typeface="+mn-lt"/>
                <a:hlinkClick r:id="rId3">
                  <a:extLst>
                    <a:ext uri="{A12FA001-AC4F-418D-AE19-62706E023703}">
                      <ahyp:hlinkClr xmlns:ahyp="http://schemas.microsoft.com/office/drawing/2018/hyperlinkcolor" val="tx"/>
                    </a:ext>
                  </a:extLst>
                </a:hlinkClick>
              </a:rPr>
              <a:t>www.freepik.com/</a:t>
            </a:r>
            <a:endParaRPr lang="en-IN" sz="1200" dirty="0">
              <a:solidFill>
                <a:srgbClr val="0000FF"/>
              </a:solidFill>
              <a:latin typeface="+mn-lt"/>
            </a:endParaRPr>
          </a:p>
        </p:txBody>
      </p:sp>
      <p:cxnSp>
        <p:nvCxnSpPr>
          <p:cNvPr id="12" name="Straight Connector 11">
            <a:extLst>
              <a:ext uri="{FF2B5EF4-FFF2-40B4-BE49-F238E27FC236}">
                <a16:creationId xmlns:a16="http://schemas.microsoft.com/office/drawing/2014/main" id="{1C9A7047-C50F-05FB-5166-D8A51220A43E}"/>
              </a:ext>
            </a:extLst>
          </p:cNvPr>
          <p:cNvCxnSpPr/>
          <p:nvPr/>
        </p:nvCxnSpPr>
        <p:spPr>
          <a:xfrm>
            <a:off x="0" y="6055360"/>
            <a:ext cx="12192000"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 name="Content Placeholder 2">
            <a:extLst>
              <a:ext uri="{FF2B5EF4-FFF2-40B4-BE49-F238E27FC236}">
                <a16:creationId xmlns:a16="http://schemas.microsoft.com/office/drawing/2014/main" id="{E593AA17-5B15-43A6-7AF2-5319AB973A56}"/>
              </a:ext>
            </a:extLst>
          </p:cNvPr>
          <p:cNvSpPr txBox="1">
            <a:spLocks/>
          </p:cNvSpPr>
          <p:nvPr/>
        </p:nvSpPr>
        <p:spPr>
          <a:xfrm>
            <a:off x="197329" y="1466191"/>
            <a:ext cx="5543192" cy="4509488"/>
          </a:xfrm>
          <a:prstGeom prst="rect">
            <a:avLst/>
          </a:prstGeom>
        </p:spPr>
        <p:txBody>
          <a:bodyPr lIns="91440" tIns="45720" rIns="91440" bIns="45720" anchor="t">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r>
              <a:rPr lang="en-US" sz="1850" b="1" dirty="0"/>
              <a:t>Model Performance:</a:t>
            </a:r>
            <a:endParaRPr lang="en-US" dirty="0"/>
          </a:p>
          <a:p>
            <a:pPr marL="285750" indent="-285750">
              <a:buChar char="•"/>
            </a:pPr>
            <a:r>
              <a:rPr lang="en-US" sz="1850" b="1" dirty="0"/>
              <a:t>Accuracy:</a:t>
            </a:r>
            <a:r>
              <a:rPr lang="en-US" sz="1850" dirty="0"/>
              <a:t> </a:t>
            </a:r>
            <a:r>
              <a:rPr lang="en-US" sz="1850" b="1" dirty="0"/>
              <a:t>99.1%</a:t>
            </a:r>
            <a:r>
              <a:rPr lang="en-US" sz="1850" dirty="0"/>
              <a:t> (Shows the model is highly reliable for real-world farming).</a:t>
            </a:r>
            <a:endParaRPr lang="en-US" dirty="0"/>
          </a:p>
          <a:p>
            <a:pPr marL="285750" indent="-285750">
              <a:buChar char="•"/>
            </a:pPr>
            <a:r>
              <a:rPr lang="en-US" sz="1850" b="1" dirty="0"/>
              <a:t>Metrics:</a:t>
            </a:r>
            <a:r>
              <a:rPr lang="en-US" sz="1850" dirty="0"/>
              <a:t> High </a:t>
            </a:r>
            <a:r>
              <a:rPr lang="en-US" sz="1850" b="1" dirty="0"/>
              <a:t>Precision</a:t>
            </a:r>
            <a:r>
              <a:rPr lang="en-US" sz="1850" dirty="0"/>
              <a:t> and </a:t>
            </a:r>
            <a:r>
              <a:rPr lang="en-US" sz="1850" b="1" dirty="0"/>
              <a:t>Recall</a:t>
            </a:r>
            <a:r>
              <a:rPr lang="en-US" sz="1850" dirty="0"/>
              <a:t> across all 22 crop classes, ensuring minimal misclassification.</a:t>
            </a:r>
            <a:endParaRPr lang="en-US" dirty="0"/>
          </a:p>
          <a:p>
            <a:pPr marL="285750" indent="-285750">
              <a:buChar char="•"/>
            </a:pPr>
            <a:r>
              <a:rPr lang="en-US" sz="1850" b="1" dirty="0"/>
              <a:t>Stability:</a:t>
            </a:r>
            <a:r>
              <a:rPr lang="en-US" sz="1850" dirty="0"/>
              <a:t> Low </a:t>
            </a:r>
            <a:r>
              <a:rPr lang="en-US" sz="1850" b="1" dirty="0"/>
              <a:t>Mean Squared Error (MSE)</a:t>
            </a:r>
            <a:r>
              <a:rPr lang="en-US" sz="1850" dirty="0"/>
              <a:t> indicates that the prediction error is extremely low.</a:t>
            </a:r>
            <a:endParaRPr lang="en-US" dirty="0"/>
          </a:p>
          <a:p>
            <a:endParaRPr lang="en-US" sz="1850" dirty="0"/>
          </a:p>
          <a:p>
            <a:endParaRPr lang="en-US" dirty="0"/>
          </a:p>
          <a:p>
            <a:r>
              <a:rPr lang="en-US" sz="1850" dirty="0"/>
              <a:t>Graphs/Visualizations:</a:t>
            </a:r>
            <a:br>
              <a:rPr lang="en-US" sz="1850" dirty="0"/>
            </a:br>
            <a:endParaRPr lang="en-US" sz="1850"/>
          </a:p>
        </p:txBody>
      </p:sp>
      <p:sp>
        <p:nvSpPr>
          <p:cNvPr id="8" name="TextBox 7">
            <a:extLst>
              <a:ext uri="{FF2B5EF4-FFF2-40B4-BE49-F238E27FC236}">
                <a16:creationId xmlns:a16="http://schemas.microsoft.com/office/drawing/2014/main" id="{53DE1687-7F69-BD4F-0FC1-3AFCEDB18C67}"/>
              </a:ext>
            </a:extLst>
          </p:cNvPr>
          <p:cNvSpPr txBox="1"/>
          <p:nvPr/>
        </p:nvSpPr>
        <p:spPr>
          <a:xfrm>
            <a:off x="202071" y="972537"/>
            <a:ext cx="5904091" cy="400110"/>
          </a:xfrm>
          <a:prstGeom prst="rect">
            <a:avLst/>
          </a:prstGeom>
          <a:noFill/>
        </p:spPr>
        <p:txBody>
          <a:bodyPr wrap="square">
            <a:spAutoFit/>
          </a:bodyPr>
          <a:lstStyle/>
          <a:p>
            <a:r>
              <a:rPr lang="en-IN" sz="2000" b="1" dirty="0">
                <a:solidFill>
                  <a:srgbClr val="213163"/>
                </a:solidFill>
              </a:rPr>
              <a:t>Result</a:t>
            </a:r>
          </a:p>
        </p:txBody>
      </p:sp>
      <p:pic>
        <p:nvPicPr>
          <p:cNvPr id="2" name="Picture 1">
            <a:extLst>
              <a:ext uri="{FF2B5EF4-FFF2-40B4-BE49-F238E27FC236}">
                <a16:creationId xmlns:a16="http://schemas.microsoft.com/office/drawing/2014/main" id="{F9A45F55-1646-6883-CDBD-A204DB255321}"/>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877644" y="732527"/>
            <a:ext cx="6317052" cy="5939286"/>
          </a:xfrm>
          <a:prstGeom prst="rect">
            <a:avLst/>
          </a:prstGeom>
        </p:spPr>
      </p:pic>
    </p:spTree>
    <p:extLst>
      <p:ext uri="{BB962C8B-B14F-4D97-AF65-F5344CB8AC3E}">
        <p14:creationId xmlns:p14="http://schemas.microsoft.com/office/powerpoint/2010/main" val="34081757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0">
          <a:extLst>
            <a:ext uri="{FF2B5EF4-FFF2-40B4-BE49-F238E27FC236}">
              <a16:creationId xmlns:a16="http://schemas.microsoft.com/office/drawing/2014/main" id="{9747AA64-86DA-EEB4-2B58-F5C9F4F69238}"/>
            </a:ext>
          </a:extLst>
        </p:cNvPr>
        <p:cNvGrpSpPr/>
        <p:nvPr/>
      </p:nvGrpSpPr>
      <p:grpSpPr>
        <a:xfrm>
          <a:off x="0" y="0"/>
          <a:ext cx="0" cy="0"/>
          <a:chOff x="0" y="0"/>
          <a:chExt cx="0" cy="0"/>
        </a:xfrm>
      </p:grpSpPr>
      <p:cxnSp>
        <p:nvCxnSpPr>
          <p:cNvPr id="12" name="Straight Connector 11">
            <a:extLst>
              <a:ext uri="{FF2B5EF4-FFF2-40B4-BE49-F238E27FC236}">
                <a16:creationId xmlns:a16="http://schemas.microsoft.com/office/drawing/2014/main" id="{3B346371-4D57-77A1-882F-B891D0C22F19}"/>
              </a:ext>
            </a:extLst>
          </p:cNvPr>
          <p:cNvCxnSpPr/>
          <p:nvPr/>
        </p:nvCxnSpPr>
        <p:spPr>
          <a:xfrm>
            <a:off x="0" y="6055360"/>
            <a:ext cx="12192000"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 name="Content Placeholder 2">
            <a:extLst>
              <a:ext uri="{FF2B5EF4-FFF2-40B4-BE49-F238E27FC236}">
                <a16:creationId xmlns:a16="http://schemas.microsoft.com/office/drawing/2014/main" id="{C4C86F6F-7155-7EC3-58B1-50842D7FA97A}"/>
              </a:ext>
            </a:extLst>
          </p:cNvPr>
          <p:cNvSpPr txBox="1">
            <a:spLocks/>
          </p:cNvSpPr>
          <p:nvPr/>
        </p:nvSpPr>
        <p:spPr>
          <a:xfrm>
            <a:off x="197328" y="1365549"/>
            <a:ext cx="11854851" cy="5156470"/>
          </a:xfrm>
          <a:prstGeom prst="rect">
            <a:avLst/>
          </a:prstGeom>
        </p:spPr>
        <p:txBody>
          <a:bodyPr lIns="91440" tIns="45720" rIns="91440" bIns="4572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a:lnSpc>
                <a:spcPct val="150000"/>
              </a:lnSpc>
            </a:pPr>
            <a:r>
              <a:rPr lang="en-US" sz="1850" b="1" dirty="0"/>
              <a:t>Insights:</a:t>
            </a:r>
            <a:endParaRPr lang="en-US" dirty="0"/>
          </a:p>
          <a:p>
            <a:pPr marL="285750" indent="-285750">
              <a:lnSpc>
                <a:spcPct val="150000"/>
              </a:lnSpc>
              <a:buChar char="•"/>
            </a:pPr>
            <a:r>
              <a:rPr lang="en-US" sz="1850" b="1" dirty="0"/>
              <a:t>Rainfall &amp; Humidity Dominance:</a:t>
            </a:r>
            <a:r>
              <a:rPr lang="en-US" sz="1850" dirty="0"/>
              <a:t> The model revealed that climatic factors have a higher impact on crop suitability than individual soil nutrients.</a:t>
            </a:r>
            <a:endParaRPr lang="en-US" dirty="0"/>
          </a:p>
          <a:p>
            <a:pPr marL="285750" indent="-285750">
              <a:lnSpc>
                <a:spcPct val="150000"/>
              </a:lnSpc>
              <a:buChar char="•"/>
            </a:pPr>
            <a:r>
              <a:rPr lang="en-US" sz="1850" b="1" dirty="0"/>
              <a:t>Soil pH Range:</a:t>
            </a:r>
            <a:r>
              <a:rPr lang="en-US" sz="1850" dirty="0"/>
              <a:t> Most profitable crops are clustered in the 6.0 to 7.0 pH range, indicating that slightly acidic to neutral soil is ideal for sustainable yields.</a:t>
            </a:r>
            <a:endParaRPr lang="en-US" dirty="0"/>
          </a:p>
          <a:p>
            <a:pPr marL="285750" indent="-285750">
              <a:lnSpc>
                <a:spcPct val="150000"/>
              </a:lnSpc>
              <a:buChar char="•"/>
            </a:pPr>
            <a:r>
              <a:rPr lang="en-US" sz="1850" b="1" dirty="0"/>
              <a:t>NPK Ratios:</a:t>
            </a:r>
            <a:r>
              <a:rPr lang="en-US" sz="1850" dirty="0"/>
              <a:t> Specific crops like Grapes and Banana showed a very high dependency on Potassium (K), allowing for targeted fertilization.</a:t>
            </a:r>
            <a:endParaRPr lang="en-US" dirty="0"/>
          </a:p>
          <a:p>
            <a:pPr>
              <a:lnSpc>
                <a:spcPct val="150000"/>
              </a:lnSpc>
            </a:pPr>
            <a:r>
              <a:rPr lang="en-US" sz="1850" b="1" dirty="0"/>
              <a:t>Challenges Faced:</a:t>
            </a:r>
            <a:endParaRPr lang="en-US" dirty="0"/>
          </a:p>
          <a:p>
            <a:pPr marL="285750" indent="-285750">
              <a:lnSpc>
                <a:spcPct val="150000"/>
              </a:lnSpc>
              <a:buChar char="•"/>
            </a:pPr>
            <a:r>
              <a:rPr lang="en-US" sz="1850" b="1" dirty="0"/>
              <a:t>Outlier Management:</a:t>
            </a:r>
            <a:r>
              <a:rPr lang="en-US" sz="1850" dirty="0"/>
              <a:t> Identifying "true" agricultural data vs. sensor noise in Rainfall data required careful application of the </a:t>
            </a:r>
            <a:r>
              <a:rPr lang="en-US" sz="1850" b="1" dirty="0"/>
              <a:t>IQR Method</a:t>
            </a:r>
            <a:r>
              <a:rPr lang="en-US" sz="1850" dirty="0"/>
              <a:t> to avoid biased predictions.</a:t>
            </a:r>
            <a:endParaRPr lang="en-US" dirty="0"/>
          </a:p>
          <a:p>
            <a:pPr marL="285750" indent="-285750">
              <a:lnSpc>
                <a:spcPct val="150000"/>
              </a:lnSpc>
              <a:buChar char="•"/>
            </a:pPr>
            <a:r>
              <a:rPr lang="en-US" sz="1850" b="1" dirty="0"/>
              <a:t>Feature Scaling:</a:t>
            </a:r>
            <a:r>
              <a:rPr lang="en-US" sz="1850" dirty="0"/>
              <a:t> Since Rainfall values are large and pH values are small, we had to apply </a:t>
            </a:r>
            <a:r>
              <a:rPr lang="en-US" sz="1850" b="1" dirty="0"/>
              <a:t>Normalization/Standardization</a:t>
            </a:r>
            <a:r>
              <a:rPr lang="en-US" sz="1850" dirty="0"/>
              <a:t> so the model wouldn't ignore </a:t>
            </a:r>
            <a:r>
              <a:rPr lang="en-US" sz="1850" err="1"/>
              <a:t>pH.</a:t>
            </a:r>
            <a:endParaRPr lang="en-US" sz="1850"/>
          </a:p>
          <a:p>
            <a:pPr>
              <a:lnSpc>
                <a:spcPct val="150000"/>
              </a:lnSpc>
            </a:pPr>
            <a:endParaRPr lang="en-US" sz="1850" b="1" dirty="0"/>
          </a:p>
          <a:p>
            <a:endParaRPr lang="en-US" sz="1850" dirty="0"/>
          </a:p>
        </p:txBody>
      </p:sp>
      <p:sp>
        <p:nvSpPr>
          <p:cNvPr id="8" name="TextBox 7">
            <a:extLst>
              <a:ext uri="{FF2B5EF4-FFF2-40B4-BE49-F238E27FC236}">
                <a16:creationId xmlns:a16="http://schemas.microsoft.com/office/drawing/2014/main" id="{C2132A3D-F4D5-4E25-BE28-B9E521F37201}"/>
              </a:ext>
            </a:extLst>
          </p:cNvPr>
          <p:cNvSpPr txBox="1"/>
          <p:nvPr/>
        </p:nvSpPr>
        <p:spPr>
          <a:xfrm>
            <a:off x="202071" y="972537"/>
            <a:ext cx="5904091" cy="400110"/>
          </a:xfrm>
          <a:prstGeom prst="rect">
            <a:avLst/>
          </a:prstGeom>
          <a:noFill/>
        </p:spPr>
        <p:txBody>
          <a:bodyPr wrap="square">
            <a:spAutoFit/>
          </a:bodyPr>
          <a:lstStyle/>
          <a:p>
            <a:r>
              <a:rPr lang="en-IN" sz="2000" b="1" dirty="0">
                <a:solidFill>
                  <a:srgbClr val="213163"/>
                </a:solidFill>
              </a:rPr>
              <a:t>Discussion</a:t>
            </a:r>
            <a:endParaRPr lang="en-IN" sz="2000" dirty="0">
              <a:solidFill>
                <a:srgbClr val="213163"/>
              </a:solidFill>
            </a:endParaRPr>
          </a:p>
        </p:txBody>
      </p:sp>
    </p:spTree>
    <p:extLst>
      <p:ext uri="{BB962C8B-B14F-4D97-AF65-F5344CB8AC3E}">
        <p14:creationId xmlns:p14="http://schemas.microsoft.com/office/powerpoint/2010/main" val="35888329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0">
          <a:extLst>
            <a:ext uri="{FF2B5EF4-FFF2-40B4-BE49-F238E27FC236}">
              <a16:creationId xmlns:a16="http://schemas.microsoft.com/office/drawing/2014/main" id="{5FFAAF42-470E-97FC-B197-6E5DF9EDB14D}"/>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F23E1BD-5875-ABF1-63F3-45C022CCC361}"/>
              </a:ext>
            </a:extLst>
          </p:cNvPr>
          <p:cNvSpPr txBox="1"/>
          <p:nvPr/>
        </p:nvSpPr>
        <p:spPr>
          <a:xfrm>
            <a:off x="199809" y="6135329"/>
            <a:ext cx="795871" cy="276999"/>
          </a:xfrm>
          <a:prstGeom prst="rect">
            <a:avLst/>
          </a:prstGeom>
          <a:noFill/>
        </p:spPr>
        <p:txBody>
          <a:bodyPr wrap="square" rtlCol="0">
            <a:spAutoFit/>
          </a:bodyPr>
          <a:lstStyle/>
          <a:p>
            <a:pPr>
              <a:spcAft>
                <a:spcPts val="800"/>
              </a:spcAft>
            </a:pPr>
            <a:r>
              <a:rPr lang="en-IN" sz="1200" b="1" dirty="0">
                <a:latin typeface="+mn-lt"/>
              </a:rPr>
              <a:t>Source : </a:t>
            </a:r>
          </a:p>
        </p:txBody>
      </p:sp>
      <p:sp>
        <p:nvSpPr>
          <p:cNvPr id="7" name="TextBox 6">
            <a:extLst>
              <a:ext uri="{FF2B5EF4-FFF2-40B4-BE49-F238E27FC236}">
                <a16:creationId xmlns:a16="http://schemas.microsoft.com/office/drawing/2014/main" id="{F04FD7C0-9A64-0039-4825-99241438FE8D}"/>
              </a:ext>
            </a:extLst>
          </p:cNvPr>
          <p:cNvSpPr txBox="1"/>
          <p:nvPr/>
        </p:nvSpPr>
        <p:spPr>
          <a:xfrm>
            <a:off x="880529" y="6135329"/>
            <a:ext cx="1842351" cy="276999"/>
          </a:xfrm>
          <a:prstGeom prst="rect">
            <a:avLst/>
          </a:prstGeom>
          <a:noFill/>
        </p:spPr>
        <p:txBody>
          <a:bodyPr wrap="square" rtlCol="0">
            <a:spAutoFit/>
          </a:bodyPr>
          <a:lstStyle/>
          <a:p>
            <a:pPr>
              <a:spcAft>
                <a:spcPts val="800"/>
              </a:spcAft>
            </a:pPr>
            <a:r>
              <a:rPr lang="en-IN" sz="1200" dirty="0">
                <a:solidFill>
                  <a:srgbClr val="0000FF"/>
                </a:solidFill>
                <a:latin typeface="+mn-lt"/>
                <a:hlinkClick r:id="rId3">
                  <a:extLst>
                    <a:ext uri="{A12FA001-AC4F-418D-AE19-62706E023703}">
                      <ahyp:hlinkClr xmlns:ahyp="http://schemas.microsoft.com/office/drawing/2018/hyperlinkcolor" val="tx"/>
                    </a:ext>
                  </a:extLst>
                </a:hlinkClick>
              </a:rPr>
              <a:t>www.freepik.com/</a:t>
            </a:r>
            <a:endParaRPr lang="en-IN" sz="1200" dirty="0">
              <a:solidFill>
                <a:srgbClr val="0000FF"/>
              </a:solidFill>
              <a:latin typeface="+mn-lt"/>
            </a:endParaRPr>
          </a:p>
        </p:txBody>
      </p:sp>
      <p:cxnSp>
        <p:nvCxnSpPr>
          <p:cNvPr id="12" name="Straight Connector 11">
            <a:extLst>
              <a:ext uri="{FF2B5EF4-FFF2-40B4-BE49-F238E27FC236}">
                <a16:creationId xmlns:a16="http://schemas.microsoft.com/office/drawing/2014/main" id="{C0E33A13-0620-DBF5-D01F-30111ED8D4DB}"/>
              </a:ext>
            </a:extLst>
          </p:cNvPr>
          <p:cNvCxnSpPr/>
          <p:nvPr/>
        </p:nvCxnSpPr>
        <p:spPr>
          <a:xfrm>
            <a:off x="0" y="6055360"/>
            <a:ext cx="12192000"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 name="Content Placeholder 2">
            <a:extLst>
              <a:ext uri="{FF2B5EF4-FFF2-40B4-BE49-F238E27FC236}">
                <a16:creationId xmlns:a16="http://schemas.microsoft.com/office/drawing/2014/main" id="{5DD3A5A0-5DE1-57D5-1967-A49F57C9AB4B}"/>
              </a:ext>
            </a:extLst>
          </p:cNvPr>
          <p:cNvSpPr txBox="1">
            <a:spLocks/>
          </p:cNvSpPr>
          <p:nvPr/>
        </p:nvSpPr>
        <p:spPr>
          <a:xfrm>
            <a:off x="197329" y="1710606"/>
            <a:ext cx="11883605" cy="4178810"/>
          </a:xfrm>
          <a:prstGeom prst="rect">
            <a:avLst/>
          </a:prstGeom>
        </p:spPr>
        <p:txBody>
          <a:bodyPr lIns="91440" tIns="45720" rIns="91440" bIns="45720" anchor="t">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a:lnSpc>
                <a:spcPct val="150000"/>
              </a:lnSpc>
            </a:pPr>
            <a:r>
              <a:rPr lang="en-US" sz="1850" b="1" dirty="0"/>
              <a:t>Sustainability Impact:</a:t>
            </a:r>
            <a:endParaRPr lang="en-US" dirty="0"/>
          </a:p>
          <a:p>
            <a:pPr marL="285750" indent="-285750">
              <a:lnSpc>
                <a:spcPct val="150000"/>
              </a:lnSpc>
              <a:buChar char="•"/>
            </a:pPr>
            <a:r>
              <a:rPr lang="en-US" sz="1850" b="1" dirty="0"/>
              <a:t>Zero Waste:</a:t>
            </a:r>
            <a:r>
              <a:rPr lang="en-US" sz="1850" dirty="0"/>
              <a:t> Prevents chemical fertilizer overuse by matching soil needs.</a:t>
            </a:r>
            <a:endParaRPr lang="en-US" dirty="0"/>
          </a:p>
          <a:p>
            <a:pPr marL="285750" indent="-285750">
              <a:lnSpc>
                <a:spcPct val="150000"/>
              </a:lnSpc>
              <a:buChar char="•"/>
            </a:pPr>
            <a:r>
              <a:rPr lang="en-US" sz="1850" b="1" dirty="0"/>
              <a:t>Eco-Friendly:</a:t>
            </a:r>
            <a:r>
              <a:rPr lang="en-US" sz="1850" dirty="0"/>
              <a:t> Protects groundwater from toxic fertilizer runoff.</a:t>
            </a:r>
            <a:endParaRPr lang="en-US" dirty="0"/>
          </a:p>
          <a:p>
            <a:pPr marL="285750" indent="-285750">
              <a:lnSpc>
                <a:spcPct val="150000"/>
              </a:lnSpc>
              <a:buChar char="•"/>
            </a:pPr>
            <a:r>
              <a:rPr lang="en-US" sz="1850" b="1" dirty="0"/>
              <a:t>SDG Goal:</a:t>
            </a:r>
            <a:r>
              <a:rPr lang="en-US" sz="1850" dirty="0"/>
              <a:t> Directly supports </a:t>
            </a:r>
            <a:r>
              <a:rPr lang="en-US" sz="1850" b="1" dirty="0"/>
              <a:t>Responsible Consumption (SDG 12)</a:t>
            </a:r>
            <a:r>
              <a:rPr lang="en-US" sz="1850" dirty="0"/>
              <a:t>.</a:t>
            </a:r>
            <a:endParaRPr lang="en-US" dirty="0"/>
          </a:p>
          <a:p>
            <a:pPr>
              <a:lnSpc>
                <a:spcPct val="150000"/>
              </a:lnSpc>
            </a:pPr>
            <a:r>
              <a:rPr lang="en-US" sz="1850" b="1" dirty="0"/>
              <a:t>Practical Implementation:</a:t>
            </a:r>
            <a:endParaRPr lang="en-US" dirty="0"/>
          </a:p>
          <a:p>
            <a:pPr marL="285750" indent="-285750">
              <a:lnSpc>
                <a:spcPct val="150000"/>
              </a:lnSpc>
              <a:buChar char="•"/>
            </a:pPr>
            <a:r>
              <a:rPr lang="en-US" sz="1850" b="1" dirty="0"/>
              <a:t>Farmer App:</a:t>
            </a:r>
            <a:r>
              <a:rPr lang="en-US" sz="1850" dirty="0"/>
              <a:t> A tool for instant crop advice based on soil tests.</a:t>
            </a:r>
            <a:endParaRPr lang="en-US" dirty="0"/>
          </a:p>
          <a:p>
            <a:pPr marL="285750" indent="-285750">
              <a:lnSpc>
                <a:spcPct val="150000"/>
              </a:lnSpc>
              <a:buChar char="•"/>
            </a:pPr>
            <a:r>
              <a:rPr lang="en-US" sz="1850" b="1" dirty="0"/>
              <a:t>Smart Maps:</a:t>
            </a:r>
            <a:r>
              <a:rPr lang="en-US" sz="1850" dirty="0"/>
              <a:t> Helping government agencies map fertile land regions.</a:t>
            </a:r>
            <a:endParaRPr lang="en-US" dirty="0"/>
          </a:p>
          <a:p>
            <a:pPr>
              <a:lnSpc>
                <a:spcPct val="150000"/>
              </a:lnSpc>
            </a:pPr>
            <a:r>
              <a:rPr lang="en-US" sz="1850" dirty="0"/>
              <a:t>.</a:t>
            </a:r>
          </a:p>
          <a:p>
            <a:pPr>
              <a:lnSpc>
                <a:spcPct val="150000"/>
              </a:lnSpc>
            </a:pPr>
            <a:endParaRPr lang="en-US" sz="1850" dirty="0"/>
          </a:p>
        </p:txBody>
      </p:sp>
      <p:sp>
        <p:nvSpPr>
          <p:cNvPr id="8" name="TextBox 7">
            <a:extLst>
              <a:ext uri="{FF2B5EF4-FFF2-40B4-BE49-F238E27FC236}">
                <a16:creationId xmlns:a16="http://schemas.microsoft.com/office/drawing/2014/main" id="{03015779-0D87-0B8F-666B-1C962E184FD1}"/>
              </a:ext>
            </a:extLst>
          </p:cNvPr>
          <p:cNvSpPr txBox="1"/>
          <p:nvPr/>
        </p:nvSpPr>
        <p:spPr>
          <a:xfrm>
            <a:off x="202071" y="972537"/>
            <a:ext cx="5904091" cy="400110"/>
          </a:xfrm>
          <a:prstGeom prst="rect">
            <a:avLst/>
          </a:prstGeom>
          <a:noFill/>
        </p:spPr>
        <p:txBody>
          <a:bodyPr wrap="square">
            <a:spAutoFit/>
          </a:bodyPr>
          <a:lstStyle/>
          <a:p>
            <a:r>
              <a:rPr lang="en-IN" sz="2000" b="1" dirty="0">
                <a:solidFill>
                  <a:srgbClr val="213163"/>
                </a:solidFill>
              </a:rPr>
              <a:t>Solution Impact</a:t>
            </a:r>
            <a:endParaRPr lang="en-IN" sz="2000" dirty="0">
              <a:solidFill>
                <a:srgbClr val="213163"/>
              </a:solidFill>
            </a:endParaRPr>
          </a:p>
        </p:txBody>
      </p:sp>
    </p:spTree>
    <p:extLst>
      <p:ext uri="{BB962C8B-B14F-4D97-AF65-F5344CB8AC3E}">
        <p14:creationId xmlns:p14="http://schemas.microsoft.com/office/powerpoint/2010/main" val="28485112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sp>
        <p:nvSpPr>
          <p:cNvPr id="3" name="TextBox 2">
            <a:extLst>
              <a:ext uri="{FF2B5EF4-FFF2-40B4-BE49-F238E27FC236}">
                <a16:creationId xmlns:a16="http://schemas.microsoft.com/office/drawing/2014/main" id="{02C0F50E-3048-BEA6-6962-A48C023C0388}"/>
              </a:ext>
            </a:extLst>
          </p:cNvPr>
          <p:cNvSpPr txBox="1"/>
          <p:nvPr/>
        </p:nvSpPr>
        <p:spPr>
          <a:xfrm>
            <a:off x="212231" y="962377"/>
            <a:ext cx="5904091" cy="400110"/>
          </a:xfrm>
          <a:prstGeom prst="rect">
            <a:avLst/>
          </a:prstGeom>
          <a:noFill/>
        </p:spPr>
        <p:txBody>
          <a:bodyPr wrap="square">
            <a:spAutoFit/>
          </a:bodyPr>
          <a:lstStyle/>
          <a:p>
            <a:r>
              <a:rPr lang="en-IN" sz="2000" b="1" dirty="0">
                <a:solidFill>
                  <a:srgbClr val="213163"/>
                </a:solidFill>
              </a:rPr>
              <a:t>Conclusion</a:t>
            </a:r>
            <a:endParaRPr lang="en-IN" sz="2000" dirty="0">
              <a:solidFill>
                <a:srgbClr val="213163"/>
              </a:solidFill>
            </a:endParaRPr>
          </a:p>
        </p:txBody>
      </p:sp>
      <p:sp>
        <p:nvSpPr>
          <p:cNvPr id="4" name="TextBox 3">
            <a:extLst>
              <a:ext uri="{FF2B5EF4-FFF2-40B4-BE49-F238E27FC236}">
                <a16:creationId xmlns:a16="http://schemas.microsoft.com/office/drawing/2014/main" id="{EC8B546F-F91E-160B-DC7F-688AFB5A50EA}"/>
              </a:ext>
            </a:extLst>
          </p:cNvPr>
          <p:cNvSpPr txBox="1"/>
          <p:nvPr/>
        </p:nvSpPr>
        <p:spPr>
          <a:xfrm>
            <a:off x="195937" y="1375634"/>
            <a:ext cx="5912294" cy="4438395"/>
          </a:xfrm>
          <a:prstGeom prst="rect">
            <a:avLst/>
          </a:prstGeom>
          <a:noFill/>
        </p:spPr>
        <p:txBody>
          <a:bodyPr wrap="square" lIns="91440" tIns="45720" rIns="91440" bIns="45720" rtlCol="0" anchor="t">
            <a:spAutoFit/>
          </a:bodyPr>
          <a:lstStyle/>
          <a:p>
            <a:pPr>
              <a:lnSpc>
                <a:spcPct val="200000"/>
              </a:lnSpc>
              <a:buFont typeface="Arial" panose="020B0604020202020204" pitchFamily="34" charset="0"/>
              <a:buChar char="•"/>
            </a:pPr>
            <a:r>
              <a:rPr lang="en-US" sz="1800" b="1" dirty="0">
                <a:latin typeface="+mn-lt"/>
              </a:rPr>
              <a:t>Final Summary:</a:t>
            </a:r>
            <a:endParaRPr lang="en-US" sz="1800" dirty="0">
              <a:latin typeface="+mn-lt"/>
            </a:endParaRPr>
          </a:p>
          <a:p>
            <a:pPr>
              <a:lnSpc>
                <a:spcPct val="200000"/>
              </a:lnSpc>
              <a:buFont typeface="Arial" panose="020B0604020202020204" pitchFamily="34" charset="0"/>
              <a:buChar char="•"/>
            </a:pPr>
            <a:r>
              <a:rPr lang="en-US" sz="1800">
                <a:latin typeface="+mn-lt"/>
              </a:rPr>
              <a:t>Achieved </a:t>
            </a:r>
            <a:r>
              <a:rPr lang="en-US" sz="1800" b="1">
                <a:latin typeface="+mn-lt"/>
              </a:rPr>
              <a:t>99.1% Accuracy</a:t>
            </a:r>
            <a:r>
              <a:rPr lang="en-US" sz="1800">
                <a:latin typeface="+mn-lt"/>
              </a:rPr>
              <a:t> using Random Forest.</a:t>
            </a:r>
            <a:endParaRPr lang="en-US"/>
          </a:p>
          <a:p>
            <a:pPr>
              <a:lnSpc>
                <a:spcPct val="200000"/>
              </a:lnSpc>
              <a:buFont typeface="Arial" panose="020B0604020202020204" pitchFamily="34" charset="0"/>
              <a:buChar char="•"/>
            </a:pPr>
            <a:r>
              <a:rPr lang="en-US" sz="1800">
                <a:latin typeface="+mn-lt"/>
              </a:rPr>
              <a:t>Successfully turned raw soil data into a sustainable farming tool.</a:t>
            </a:r>
            <a:endParaRPr lang="en-US"/>
          </a:p>
          <a:p>
            <a:pPr>
              <a:lnSpc>
                <a:spcPct val="200000"/>
              </a:lnSpc>
              <a:buFont typeface="Arial" panose="020B0604020202020204" pitchFamily="34" charset="0"/>
              <a:buChar char="•"/>
            </a:pPr>
            <a:r>
              <a:rPr lang="en-US" sz="1800" b="1" dirty="0">
                <a:latin typeface="+mn-lt"/>
              </a:rPr>
              <a:t>Future Work:</a:t>
            </a:r>
            <a:endParaRPr lang="en-US" dirty="0"/>
          </a:p>
          <a:p>
            <a:pPr>
              <a:lnSpc>
                <a:spcPct val="200000"/>
              </a:lnSpc>
              <a:buFont typeface="Arial" panose="020B0604020202020204" pitchFamily="34" charset="0"/>
              <a:buChar char="•"/>
            </a:pPr>
            <a:r>
              <a:rPr lang="en-US" sz="1800" dirty="0">
                <a:latin typeface="+mn-lt"/>
              </a:rPr>
              <a:t>Add a </a:t>
            </a:r>
            <a:r>
              <a:rPr lang="en-US" sz="1800" b="1" dirty="0">
                <a:latin typeface="+mn-lt"/>
              </a:rPr>
              <a:t>Fertilizer Dosage</a:t>
            </a:r>
            <a:r>
              <a:rPr lang="en-US" sz="1800" dirty="0">
                <a:latin typeface="+mn-lt"/>
              </a:rPr>
              <a:t> calculator.</a:t>
            </a:r>
            <a:endParaRPr lang="en-US" dirty="0"/>
          </a:p>
          <a:p>
            <a:pPr>
              <a:lnSpc>
                <a:spcPct val="200000"/>
              </a:lnSpc>
              <a:buFont typeface="Arial" panose="020B0604020202020204" pitchFamily="34" charset="0"/>
              <a:buChar char="•"/>
            </a:pPr>
            <a:r>
              <a:rPr lang="en-US" sz="1800" dirty="0">
                <a:latin typeface="+mn-lt"/>
              </a:rPr>
              <a:t>Support for more Indian crop varieties.</a:t>
            </a:r>
            <a:endParaRPr lang="en-US" dirty="0"/>
          </a:p>
          <a:p>
            <a:pPr marL="228600" indent="-228600">
              <a:lnSpc>
                <a:spcPct val="200000"/>
              </a:lnSpc>
              <a:spcAft>
                <a:spcPts val="800"/>
              </a:spcAft>
              <a:buFont typeface="Arial" panose="020B0604020202020204" pitchFamily="34" charset="0"/>
              <a:buChar char="•"/>
            </a:pPr>
            <a:endParaRPr lang="en-US" sz="1800" dirty="0">
              <a:latin typeface="+mn-lt"/>
            </a:endParaRPr>
          </a:p>
        </p:txBody>
      </p:sp>
      <p:sp>
        <p:nvSpPr>
          <p:cNvPr id="8" name="TextBox 7">
            <a:extLst>
              <a:ext uri="{FF2B5EF4-FFF2-40B4-BE49-F238E27FC236}">
                <a16:creationId xmlns:a16="http://schemas.microsoft.com/office/drawing/2014/main" id="{FF6EE1DD-6A31-2A28-F8BE-6E59037422CF}"/>
              </a:ext>
            </a:extLst>
          </p:cNvPr>
          <p:cNvSpPr txBox="1"/>
          <p:nvPr/>
        </p:nvSpPr>
        <p:spPr>
          <a:xfrm>
            <a:off x="199809" y="6135329"/>
            <a:ext cx="795871" cy="276999"/>
          </a:xfrm>
          <a:prstGeom prst="rect">
            <a:avLst/>
          </a:prstGeom>
          <a:noFill/>
        </p:spPr>
        <p:txBody>
          <a:bodyPr wrap="square" rtlCol="0">
            <a:spAutoFit/>
          </a:bodyPr>
          <a:lstStyle/>
          <a:p>
            <a:pPr>
              <a:spcAft>
                <a:spcPts val="800"/>
              </a:spcAft>
            </a:pPr>
            <a:r>
              <a:rPr lang="en-IN" sz="1200" b="1" dirty="0">
                <a:latin typeface="+mn-lt"/>
              </a:rPr>
              <a:t>Source : </a:t>
            </a:r>
          </a:p>
        </p:txBody>
      </p:sp>
      <p:sp>
        <p:nvSpPr>
          <p:cNvPr id="9" name="TextBox 8">
            <a:extLst>
              <a:ext uri="{FF2B5EF4-FFF2-40B4-BE49-F238E27FC236}">
                <a16:creationId xmlns:a16="http://schemas.microsoft.com/office/drawing/2014/main" id="{18F06934-F528-B704-BB31-70471CEEB0BF}"/>
              </a:ext>
            </a:extLst>
          </p:cNvPr>
          <p:cNvSpPr txBox="1"/>
          <p:nvPr/>
        </p:nvSpPr>
        <p:spPr>
          <a:xfrm>
            <a:off x="880529" y="6135329"/>
            <a:ext cx="1842351" cy="276999"/>
          </a:xfrm>
          <a:prstGeom prst="rect">
            <a:avLst/>
          </a:prstGeom>
          <a:noFill/>
        </p:spPr>
        <p:txBody>
          <a:bodyPr wrap="square" rtlCol="0">
            <a:spAutoFit/>
          </a:bodyPr>
          <a:lstStyle/>
          <a:p>
            <a:pPr>
              <a:spcAft>
                <a:spcPts val="800"/>
              </a:spcAft>
            </a:pPr>
            <a:r>
              <a:rPr lang="en-IN" sz="1200" dirty="0">
                <a:solidFill>
                  <a:srgbClr val="0000FF"/>
                </a:solidFill>
                <a:latin typeface="+mn-lt"/>
                <a:hlinkClick r:id="rId3">
                  <a:extLst>
                    <a:ext uri="{A12FA001-AC4F-418D-AE19-62706E023703}">
                      <ahyp:hlinkClr xmlns:ahyp="http://schemas.microsoft.com/office/drawing/2018/hyperlinkcolor" val="tx"/>
                    </a:ext>
                  </a:extLst>
                </a:hlinkClick>
              </a:rPr>
              <a:t>www.freepik.com/</a:t>
            </a:r>
            <a:endParaRPr lang="en-IN" sz="1200" dirty="0">
              <a:solidFill>
                <a:srgbClr val="0000FF"/>
              </a:solidFill>
              <a:latin typeface="+mn-lt"/>
            </a:endParaRPr>
          </a:p>
        </p:txBody>
      </p:sp>
      <p:cxnSp>
        <p:nvCxnSpPr>
          <p:cNvPr id="10" name="Straight Connector 9">
            <a:extLst>
              <a:ext uri="{FF2B5EF4-FFF2-40B4-BE49-F238E27FC236}">
                <a16:creationId xmlns:a16="http://schemas.microsoft.com/office/drawing/2014/main" id="{6247989A-A2B1-6748-7E8A-F0362FB212B6}"/>
              </a:ext>
            </a:extLst>
          </p:cNvPr>
          <p:cNvCxnSpPr/>
          <p:nvPr/>
        </p:nvCxnSpPr>
        <p:spPr>
          <a:xfrm>
            <a:off x="0" y="6055360"/>
            <a:ext cx="12192000"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pic>
        <p:nvPicPr>
          <p:cNvPr id="2" name="Picture 1" descr="A light bulb with a black background&#10;&#10;Description automatically generated">
            <a:extLst>
              <a:ext uri="{FF2B5EF4-FFF2-40B4-BE49-F238E27FC236}">
                <a16:creationId xmlns:a16="http://schemas.microsoft.com/office/drawing/2014/main" id="{75F7452F-58BC-17CE-3016-C04F4A0BB586}"/>
              </a:ext>
            </a:extLst>
          </p:cNvPr>
          <p:cNvPicPr>
            <a:picLocks noChangeAspect="1"/>
          </p:cNvPicPr>
          <p:nvPr/>
        </p:nvPicPr>
        <p:blipFill rotWithShape="1">
          <a:blip r:embed="rId4"/>
          <a:srcRect l="7117" t="5427" r="7295" b="7474"/>
          <a:stretch/>
        </p:blipFill>
        <p:spPr>
          <a:xfrm>
            <a:off x="7112000" y="1092200"/>
            <a:ext cx="4551680" cy="4632115"/>
          </a:xfrm>
          <a:prstGeom prst="rect">
            <a:avLst/>
          </a:prstGeom>
        </p:spPr>
      </p:pic>
    </p:spTree>
    <p:extLst>
      <p:ext uri="{BB962C8B-B14F-4D97-AF65-F5344CB8AC3E}">
        <p14:creationId xmlns:p14="http://schemas.microsoft.com/office/powerpoint/2010/main" val="20463212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sp>
        <p:nvSpPr>
          <p:cNvPr id="3" name="TextBox 2">
            <a:extLst>
              <a:ext uri="{FF2B5EF4-FFF2-40B4-BE49-F238E27FC236}">
                <a16:creationId xmlns:a16="http://schemas.microsoft.com/office/drawing/2014/main" id="{02C0F50E-3048-BEA6-6962-A48C023C0388}"/>
              </a:ext>
            </a:extLst>
          </p:cNvPr>
          <p:cNvSpPr txBox="1"/>
          <p:nvPr/>
        </p:nvSpPr>
        <p:spPr>
          <a:xfrm>
            <a:off x="212231" y="962377"/>
            <a:ext cx="5904091" cy="400110"/>
          </a:xfrm>
          <a:prstGeom prst="rect">
            <a:avLst/>
          </a:prstGeom>
          <a:noFill/>
        </p:spPr>
        <p:txBody>
          <a:bodyPr wrap="square">
            <a:spAutoFit/>
          </a:bodyPr>
          <a:lstStyle/>
          <a:p>
            <a:r>
              <a:rPr lang="en-IN" sz="2000" b="1" dirty="0">
                <a:solidFill>
                  <a:srgbClr val="213163"/>
                </a:solidFill>
              </a:rPr>
              <a:t>References</a:t>
            </a:r>
            <a:endParaRPr lang="en-IN" sz="2000" dirty="0">
              <a:solidFill>
                <a:srgbClr val="213163"/>
              </a:solidFill>
            </a:endParaRPr>
          </a:p>
        </p:txBody>
      </p:sp>
      <p:sp>
        <p:nvSpPr>
          <p:cNvPr id="4" name="TextBox 3">
            <a:extLst>
              <a:ext uri="{FF2B5EF4-FFF2-40B4-BE49-F238E27FC236}">
                <a16:creationId xmlns:a16="http://schemas.microsoft.com/office/drawing/2014/main" id="{EC8B546F-F91E-160B-DC7F-688AFB5A50EA}"/>
              </a:ext>
            </a:extLst>
          </p:cNvPr>
          <p:cNvSpPr txBox="1"/>
          <p:nvPr/>
        </p:nvSpPr>
        <p:spPr>
          <a:xfrm>
            <a:off x="210314" y="1375634"/>
            <a:ext cx="11706369" cy="4611519"/>
          </a:xfrm>
          <a:prstGeom prst="rect">
            <a:avLst/>
          </a:prstGeom>
          <a:noFill/>
        </p:spPr>
        <p:txBody>
          <a:bodyPr wrap="square" lIns="91440" tIns="45720" rIns="91440" bIns="45720" rtlCol="0" anchor="t">
            <a:spAutoFit/>
          </a:bodyPr>
          <a:lstStyle/>
          <a:p>
            <a:pPr>
              <a:lnSpc>
                <a:spcPct val="150000"/>
              </a:lnSpc>
              <a:buFont typeface="Arial" panose="020B0604020202020204" pitchFamily="34" charset="0"/>
              <a:buChar char="•"/>
            </a:pPr>
            <a:r>
              <a:rPr lang="en-US" sz="1800" b="1" dirty="0">
                <a:latin typeface="+mn-lt"/>
              </a:rPr>
              <a:t>GitHub Repository:</a:t>
            </a:r>
            <a:endParaRPr lang="en-US" dirty="0"/>
          </a:p>
          <a:p>
            <a:pPr>
              <a:lnSpc>
                <a:spcPct val="150000"/>
              </a:lnSpc>
              <a:buFont typeface="Arial" panose="020B0604020202020204" pitchFamily="34" charset="0"/>
              <a:buChar char="•"/>
            </a:pPr>
            <a:r>
              <a:rPr lang="en-US" sz="1800" b="1" dirty="0">
                <a:latin typeface="+mn-lt"/>
              </a:rPr>
              <a:t>Link:</a:t>
            </a:r>
            <a:r>
              <a:rPr lang="en-US" sz="1800" dirty="0">
                <a:latin typeface="+mn-lt"/>
              </a:rPr>
              <a:t> </a:t>
            </a:r>
            <a:r>
              <a:rPr lang="en-US" sz="1800" dirty="0">
                <a:latin typeface="+mn-lt"/>
                <a:hlinkClick r:id="rId3"/>
              </a:rPr>
              <a:t>https://github.com/Chandresh2601/Crop-Recommendation-System./tree/main</a:t>
            </a:r>
            <a:r>
              <a:rPr lang="en-US" sz="1800" dirty="0">
                <a:latin typeface="+mn-lt"/>
              </a:rPr>
              <a:t> </a:t>
            </a:r>
            <a:endParaRPr lang="en-US" dirty="0"/>
          </a:p>
          <a:p>
            <a:pPr>
              <a:lnSpc>
                <a:spcPct val="150000"/>
              </a:lnSpc>
              <a:buFont typeface="Arial" panose="020B0604020202020204" pitchFamily="34" charset="0"/>
              <a:buChar char="•"/>
            </a:pPr>
            <a:r>
              <a:rPr lang="en-US" sz="1800" b="1" dirty="0">
                <a:latin typeface="+mn-lt"/>
              </a:rPr>
              <a:t>Project:</a:t>
            </a:r>
            <a:r>
              <a:rPr lang="en-US" sz="1800" dirty="0">
                <a:latin typeface="+mn-lt"/>
              </a:rPr>
              <a:t> Crop Recommendation System Source Code.</a:t>
            </a:r>
            <a:endParaRPr lang="en-US" dirty="0"/>
          </a:p>
          <a:p>
            <a:pPr>
              <a:lnSpc>
                <a:spcPct val="150000"/>
              </a:lnSpc>
              <a:buFont typeface="Arial" panose="020B0604020202020204" pitchFamily="34" charset="0"/>
              <a:buChar char="•"/>
            </a:pPr>
            <a:r>
              <a:rPr lang="en-US" sz="1800" b="1" dirty="0">
                <a:latin typeface="+mn-lt"/>
              </a:rPr>
              <a:t>Dataset Source:</a:t>
            </a:r>
            <a:endParaRPr lang="en-US" dirty="0"/>
          </a:p>
          <a:p>
            <a:pPr>
              <a:lnSpc>
                <a:spcPct val="150000"/>
              </a:lnSpc>
              <a:buFont typeface="Arial" panose="020B0604020202020204" pitchFamily="34" charset="0"/>
              <a:buChar char="•"/>
            </a:pPr>
            <a:r>
              <a:rPr lang="en-US" sz="1800" b="1" dirty="0">
                <a:latin typeface="+mn-lt"/>
              </a:rPr>
              <a:t>Data:</a:t>
            </a:r>
            <a:r>
              <a:rPr lang="en-US" sz="1800" dirty="0">
                <a:latin typeface="+mn-lt"/>
              </a:rPr>
              <a:t> Open-source Crop Recommendation Dataset.</a:t>
            </a:r>
            <a:endParaRPr lang="en-US" dirty="0"/>
          </a:p>
          <a:p>
            <a:pPr>
              <a:lnSpc>
                <a:spcPct val="150000"/>
              </a:lnSpc>
              <a:buFont typeface="Arial" panose="020B0604020202020204" pitchFamily="34" charset="0"/>
              <a:buChar char="•"/>
            </a:pPr>
            <a:r>
              <a:rPr lang="en-US" sz="1800" b="1" dirty="0">
                <a:latin typeface="+mn-lt"/>
              </a:rPr>
              <a:t>Link:</a:t>
            </a:r>
            <a:r>
              <a:rPr lang="en-US" sz="1800" dirty="0">
                <a:latin typeface="+mn-lt"/>
              </a:rPr>
              <a:t> </a:t>
            </a:r>
            <a:r>
              <a:rPr lang="en-US" sz="1800" dirty="0">
                <a:latin typeface="+mn-lt"/>
                <a:hlinkClick r:id="rId4"/>
              </a:rPr>
              <a:t>kaggle.com/datasets/cp-crop-recommendation</a:t>
            </a:r>
            <a:endParaRPr lang="en-US" dirty="0"/>
          </a:p>
          <a:p>
            <a:pPr>
              <a:lnSpc>
                <a:spcPct val="150000"/>
              </a:lnSpc>
              <a:buFont typeface="Arial" panose="020B0604020202020204" pitchFamily="34" charset="0"/>
              <a:buChar char="•"/>
            </a:pPr>
            <a:r>
              <a:rPr lang="en-US" sz="1800" b="1" dirty="0">
                <a:latin typeface="+mn-lt"/>
              </a:rPr>
              <a:t>Technical Documentation:</a:t>
            </a:r>
            <a:endParaRPr lang="en-US" dirty="0"/>
          </a:p>
          <a:p>
            <a:pPr>
              <a:lnSpc>
                <a:spcPct val="150000"/>
              </a:lnSpc>
              <a:buFont typeface="Arial" panose="020B0604020202020204" pitchFamily="34" charset="0"/>
              <a:buChar char="•"/>
            </a:pPr>
            <a:r>
              <a:rPr lang="en-US" sz="1800" b="1" dirty="0">
                <a:latin typeface="+mn-lt"/>
              </a:rPr>
              <a:t>Libraries:</a:t>
            </a:r>
            <a:r>
              <a:rPr lang="en-US" sz="1800" dirty="0">
                <a:latin typeface="+mn-lt"/>
              </a:rPr>
              <a:t> Scikit-Learn, Pandas, NumPy.</a:t>
            </a:r>
            <a:endParaRPr lang="en-US" dirty="0"/>
          </a:p>
          <a:p>
            <a:pPr>
              <a:lnSpc>
                <a:spcPct val="150000"/>
              </a:lnSpc>
              <a:buFont typeface="Arial" panose="020B0604020202020204" pitchFamily="34" charset="0"/>
              <a:buChar char="•"/>
            </a:pPr>
            <a:r>
              <a:rPr lang="en-US" sz="1800" b="1" dirty="0">
                <a:latin typeface="+mn-lt"/>
              </a:rPr>
              <a:t>Algorithm:</a:t>
            </a:r>
            <a:r>
              <a:rPr lang="en-US" sz="1800" dirty="0">
                <a:latin typeface="+mn-lt"/>
              </a:rPr>
              <a:t> Random Forest Documentation.</a:t>
            </a:r>
            <a:endParaRPr lang="en-US" dirty="0"/>
          </a:p>
          <a:p>
            <a:pPr>
              <a:lnSpc>
                <a:spcPct val="150000"/>
              </a:lnSpc>
              <a:buFont typeface="Arial" panose="020B0604020202020204" pitchFamily="34" charset="0"/>
              <a:buChar char="•"/>
            </a:pPr>
            <a:r>
              <a:rPr lang="en-US" sz="1800" b="1" dirty="0">
                <a:latin typeface="+mn-lt"/>
              </a:rPr>
              <a:t>Template:</a:t>
            </a:r>
            <a:r>
              <a:rPr lang="en-US" sz="1800" dirty="0">
                <a:latin typeface="+mn-lt"/>
              </a:rPr>
              <a:t> Shell Skills4Future / </a:t>
            </a:r>
            <a:r>
              <a:rPr lang="en-US" sz="1800" dirty="0" err="1">
                <a:latin typeface="+mn-lt"/>
              </a:rPr>
              <a:t>Edunet</a:t>
            </a:r>
            <a:r>
              <a:rPr lang="en-US" sz="1800" dirty="0">
                <a:latin typeface="+mn-lt"/>
              </a:rPr>
              <a:t> Foundation.</a:t>
            </a:r>
            <a:endParaRPr lang="en-US" dirty="0"/>
          </a:p>
          <a:p>
            <a:pPr marL="228600" indent="-228600">
              <a:lnSpc>
                <a:spcPct val="150000"/>
              </a:lnSpc>
              <a:spcAft>
                <a:spcPts val="800"/>
              </a:spcAft>
              <a:buFont typeface="Arial" panose="020B0604020202020204" pitchFamily="34" charset="0"/>
              <a:buChar char="•"/>
            </a:pPr>
            <a:endParaRPr lang="en-US" sz="1800" dirty="0">
              <a:latin typeface="+mn-lt"/>
            </a:endParaRPr>
          </a:p>
        </p:txBody>
      </p:sp>
    </p:spTree>
    <p:extLst>
      <p:ext uri="{BB962C8B-B14F-4D97-AF65-F5344CB8AC3E}">
        <p14:creationId xmlns:p14="http://schemas.microsoft.com/office/powerpoint/2010/main" val="13079258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Google Shape;61;g5fab984687_2_0">
            <a:extLst>
              <a:ext uri="{FF2B5EF4-FFF2-40B4-BE49-F238E27FC236}">
                <a16:creationId xmlns:a16="http://schemas.microsoft.com/office/drawing/2014/main" id="{0C30A77F-BE9B-73CB-CC7F-A1F8B5B87AB9}"/>
              </a:ext>
            </a:extLst>
          </p:cNvPr>
          <p:cNvSpPr txBox="1">
            <a:spLocks/>
          </p:cNvSpPr>
          <p:nvPr/>
        </p:nvSpPr>
        <p:spPr>
          <a:xfrm>
            <a:off x="4315206" y="3214562"/>
            <a:ext cx="3561588" cy="987048"/>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SzPts val="2800"/>
            </a:pPr>
            <a:r>
              <a:rPr lang="en-US" sz="5000" b="1" dirty="0">
                <a:solidFill>
                  <a:srgbClr val="213163"/>
                </a:solidFill>
              </a:rPr>
              <a:t>Thank You</a:t>
            </a:r>
            <a:endParaRPr lang="en-US" sz="5000" dirty="0"/>
          </a:p>
        </p:txBody>
      </p:sp>
    </p:spTree>
    <p:extLst>
      <p:ext uri="{BB962C8B-B14F-4D97-AF65-F5344CB8AC3E}">
        <p14:creationId xmlns:p14="http://schemas.microsoft.com/office/powerpoint/2010/main" val="3544365122"/>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9162bd5b-4ed9-4da3-b376-05204580ba3f"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0F1872188ABCFC48BECA6C87E8AC3285" ma:contentTypeVersion="15" ma:contentTypeDescription="Create a new document." ma:contentTypeScope="" ma:versionID="7670618c03e54fbae4a17ecb2d0ed10f">
  <xsd:schema xmlns:xsd="http://www.w3.org/2001/XMLSchema" xmlns:xs="http://www.w3.org/2001/XMLSchema" xmlns:p="http://schemas.microsoft.com/office/2006/metadata/properties" xmlns:ns3="9162bd5b-4ed9-4da3-b376-05204580ba3f" xmlns:ns4="c0fa2617-96bd-425d-8578-e93563fe37c5" targetNamespace="http://schemas.microsoft.com/office/2006/metadata/properties" ma:root="true" ma:fieldsID="3d63de1c5a217044e31e0c8b260d3d71" ns3:_="" ns4:_="">
    <xsd:import namespace="9162bd5b-4ed9-4da3-b376-05204580ba3f"/>
    <xsd:import namespace="c0fa2617-96bd-425d-8578-e93563fe37c5"/>
    <xsd:element name="properties">
      <xsd:complexType>
        <xsd:sequence>
          <xsd:element name="documentManagement">
            <xsd:complexType>
              <xsd:all>
                <xsd:element ref="ns3:MediaServiceMetadata" minOccurs="0"/>
                <xsd:element ref="ns3:MediaServiceFastMetadata" minOccurs="0"/>
                <xsd:element ref="ns4:SharedWithUsers" minOccurs="0"/>
                <xsd:element ref="ns4:SharedWithDetails" minOccurs="0"/>
                <xsd:element ref="ns4:SharingHintHash" minOccurs="0"/>
                <xsd:element ref="ns3:MediaServiceAutoTags"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DateTaken" minOccurs="0"/>
                <xsd:element ref="ns3:MediaLengthInSeconds" minOccurs="0"/>
                <xsd:element ref="ns3:MediaServiceLocation"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162bd5b-4ed9-4da3-b376-05204580ba3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MediaServiceDateTaken" ma:index="19" nillable="true" ma:displayName="MediaServiceDateTaken" ma:hidden="true" ma:internalName="MediaServiceDateTake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MediaServiceLocation" ma:index="21" nillable="true" ma:displayName="Location" ma:internalName="MediaServiceLocation" ma:readOnly="true">
      <xsd:simpleType>
        <xsd:restriction base="dms:Text"/>
      </xsd:simpleType>
    </xsd:element>
    <xsd:element name="_activity" ma:index="22" nillable="true" ma:displayName="_activity" ma:hidden="true" ma:internalName="_activity">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0fa2617-96bd-425d-8578-e93563fe37c5"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SharingHintHash" ma:index="12"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6559A34-456E-49A1-8157-9E3D18BFAD36}">
  <ds:schemaRefs>
    <ds:schemaRef ds:uri="9162bd5b-4ed9-4da3-b376-05204580ba3f"/>
    <ds:schemaRef ds:uri="c0fa2617-96bd-425d-8578-e93563fe37c5"/>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7D9E5D5E-A365-4A49-8140-C8CC82A61608}">
  <ds:schemaRefs>
    <ds:schemaRef ds:uri="9162bd5b-4ed9-4da3-b376-05204580ba3f"/>
    <ds:schemaRef ds:uri="c0fa2617-96bd-425d-8578-e93563fe37c5"/>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3706AB80-2608-47D7-8AC8-FA6BC8A9B27C}">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3750</TotalTime>
  <Words>839</Words>
  <Application>Microsoft Office PowerPoint</Application>
  <PresentationFormat>Widescreen</PresentationFormat>
  <Paragraphs>89</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Consolas</vt:lpstr>
      <vt:lpstr>Times New Roman</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Dr Moinudeen Syed</dc:creator>
  <cp:lastModifiedBy>Chandresh Dabhi</cp:lastModifiedBy>
  <cp:revision>179</cp:revision>
  <dcterms:modified xsi:type="dcterms:W3CDTF">2026-01-08T16:17:34Z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0x0101000F1872188ABCFC48BECA6C87E8AC3285</vt:lpwstr>
  </property>
</Properties>
</file>