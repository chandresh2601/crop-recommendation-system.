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5"/>
  </p:notesMasterIdLst>
  <p:sldIdLst>
    <p:sldId id="1303" r:id="rId5"/>
    <p:sldId id="1310" r:id="rId6"/>
    <p:sldId id="1301" r:id="rId7"/>
    <p:sldId id="1302" r:id="rId8"/>
    <p:sldId id="1306" r:id="rId9"/>
    <p:sldId id="1307" r:id="rId10"/>
    <p:sldId id="1308" r:id="rId11"/>
    <p:sldId id="1295" r:id="rId12"/>
    <p:sldId id="1296" r:id="rId13"/>
    <p:sldId id="1250"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EFF"/>
    <a:srgbClr val="F9FFEB"/>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B0BD2C-787D-4334-A4FA-EEFDD7D0E485}" v="111" dt="2026-01-08T14:47:48.535"/>
    <p1510:client id="{BE861BFA-4401-4263-A3E8-6AE160DBDFA7}" v="174" dt="2026-01-08T14:41:03.8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882" autoAdjust="0"/>
  </p:normalViewPr>
  <p:slideViewPr>
    <p:cSldViewPr snapToGrid="0">
      <p:cViewPr varScale="1">
        <p:scale>
          <a:sx n="60" d="100"/>
          <a:sy n="60" d="100"/>
        </p:scale>
        <p:origin x="1116" y="60"/>
      </p:cViewPr>
      <p:guideLst>
        <p:guide orient="horz" pos="792"/>
        <p:guide pos="192"/>
        <p:guide orient="horz" pos="10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226" Type="http://schemas.microsoft.com/office/2015/10/relationships/revisionInfo" Target="revisionInfo.xml"/><Relationship Id="rId2" Type="http://schemas.openxmlformats.org/officeDocument/2006/relationships/customXml" Target="../customXml/item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resh Dabhi" userId="af71c14b62192cec" providerId="LiveId" clId="{90F13F0C-2D6A-42F2-AA44-6B5B0D094886}"/>
    <pc:docChg chg="modSld">
      <pc:chgData name="Chandresh Dabhi" userId="af71c14b62192cec" providerId="LiveId" clId="{90F13F0C-2D6A-42F2-AA44-6B5B0D094886}" dt="2026-01-08T15:49:57.283" v="27"/>
      <pc:docMkLst>
        <pc:docMk/>
      </pc:docMkLst>
      <pc:sldChg chg="modSp mod">
        <pc:chgData name="Chandresh Dabhi" userId="af71c14b62192cec" providerId="LiveId" clId="{90F13F0C-2D6A-42F2-AA44-6B5B0D094886}" dt="2026-01-08T15:49:57.283" v="27"/>
        <pc:sldMkLst>
          <pc:docMk/>
          <pc:sldMk cId="1307925877" sldId="1296"/>
        </pc:sldMkLst>
        <pc:spChg chg="mod">
          <ac:chgData name="Chandresh Dabhi" userId="af71c14b62192cec" providerId="LiveId" clId="{90F13F0C-2D6A-42F2-AA44-6B5B0D094886}" dt="2026-01-08T15:49:57.283" v="27"/>
          <ac:spMkLst>
            <pc:docMk/>
            <pc:sldMk cId="1307925877" sldId="1296"/>
            <ac:spMk id="4" creationId="{EC8B546F-F91E-160B-DC7F-688AFB5A50E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6F48-9D21-782B-817D-628E00E7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01B1-8FFD-B3B2-8C58-D03C141EAAFE}"/>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24391DBC-FC69-5469-D390-5D98A124241B}"/>
              </a:ext>
            </a:extLst>
          </p:cNvPr>
          <p:cNvSpPr>
            <a:spLocks noGrp="1"/>
          </p:cNvSpPr>
          <p:nvPr>
            <p:ph type="body" idx="1"/>
          </p:nvPr>
        </p:nvSpPr>
        <p:spPr/>
        <p:txBody>
          <a:bodyPr/>
          <a:lstStyle/>
          <a:p>
            <a:pPr marL="158750" indent="0">
              <a:buNone/>
            </a:pPr>
            <a:endParaRPr lang="en-US" b="1"/>
          </a:p>
        </p:txBody>
      </p:sp>
      <p:sp>
        <p:nvSpPr>
          <p:cNvPr id="4" name="Slide Number Placeholder 3">
            <a:extLst>
              <a:ext uri="{FF2B5EF4-FFF2-40B4-BE49-F238E27FC236}">
                <a16:creationId xmlns:a16="http://schemas.microsoft.com/office/drawing/2014/main" id="{70FE33EE-4789-F264-0283-0D77B6B7A50C}"/>
              </a:ext>
            </a:extLst>
          </p:cNvPr>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5254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80395F-E9B0-9621-C4E3-FD7FF72706EA}"/>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63215563-4F70-DE4A-C34C-638BAB5FBB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9344126E-2736-A4F6-D565-28E63507C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51934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165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6D3F29-8BDE-7163-D2D5-EE57DFC9C90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41EE912-6552-9CC6-CD6B-6B980308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6F97443E-66AE-5448-3379-C79C6080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2909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740807C-4F7F-7350-DAC5-C698CAF9529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6354546-E6C2-39A5-0CD8-6088FB6DE0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5765A9FB-648E-959C-28ED-38B9E6806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906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DF3603-B90C-E85A-3BA4-021FBC104BA6}"/>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7E4F9E3F-281C-99B0-C36B-EBAA663D8C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19D15949-A0F5-E877-78C7-0F3F8BE63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9055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384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https://www.google.com/search?q=https://kaggle.com/datasets/cp-crop-recommendation"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07AE-7741-CFD9-BE8D-2CAE1C48C6B7}"/>
            </a:ext>
          </a:extLst>
        </p:cNvPr>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2F44FAA3-CD3A-C2DE-34BE-DD7BBE78D64E}"/>
              </a:ext>
            </a:extLst>
          </p:cNvPr>
          <p:cNvPicPr>
            <a:picLocks noChangeAspect="1"/>
          </p:cNvPicPr>
          <p:nvPr/>
        </p:nvPicPr>
        <p:blipFill>
          <a:blip r:embed="rId3"/>
          <a:stretch>
            <a:fillRect/>
          </a:stretch>
        </p:blipFill>
        <p:spPr>
          <a:xfrm>
            <a:off x="0" y="9331"/>
            <a:ext cx="12192000" cy="6858000"/>
          </a:xfrm>
          <a:prstGeom prst="rect">
            <a:avLst/>
          </a:prstGeom>
        </p:spPr>
      </p:pic>
      <p:sp>
        <p:nvSpPr>
          <p:cNvPr id="5" name="Rectangle: Rounded Corners 4">
            <a:extLst>
              <a:ext uri="{FF2B5EF4-FFF2-40B4-BE49-F238E27FC236}">
                <a16:creationId xmlns:a16="http://schemas.microsoft.com/office/drawing/2014/main" id="{DF167754-280A-4FED-560B-C3D6EB2185DE}"/>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CA298952-1BDB-C0AE-516A-649A0AADEA76}"/>
              </a:ext>
            </a:extLst>
          </p:cNvPr>
          <p:cNvSpPr txBox="1"/>
          <p:nvPr/>
        </p:nvSpPr>
        <p:spPr>
          <a:xfrm>
            <a:off x="6359008" y="3429000"/>
            <a:ext cx="4663439" cy="707886"/>
          </a:xfrm>
          <a:prstGeom prst="rect">
            <a:avLst/>
          </a:prstGeom>
          <a:noFill/>
        </p:spPr>
        <p:txBody>
          <a:bodyPr wrap="square" rtlCol="0">
            <a:spAutoFit/>
          </a:bodyPr>
          <a:lstStyle/>
          <a:p>
            <a:pPr algn="r"/>
            <a:r>
              <a:rPr lang="en-US" sz="4000" b="1" dirty="0">
                <a:solidFill>
                  <a:schemeClr val="bg1"/>
                </a:solidFill>
                <a:latin typeface="Arial" panose="020B0604020202020204" pitchFamily="34" charset="0"/>
                <a:cs typeface="Arial" panose="020B0604020202020204" pitchFamily="34" charset="0"/>
              </a:rPr>
              <a:t>Case Study Title</a:t>
            </a:r>
          </a:p>
        </p:txBody>
      </p:sp>
      <p:grpSp>
        <p:nvGrpSpPr>
          <p:cNvPr id="4" name="Group 3">
            <a:extLst>
              <a:ext uri="{FF2B5EF4-FFF2-40B4-BE49-F238E27FC236}">
                <a16:creationId xmlns:a16="http://schemas.microsoft.com/office/drawing/2014/main" id="{B14EC782-EC27-B496-4307-079310BF069F}"/>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id="{6BB3DC08-2A20-1075-63BC-E8C04F7BB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id="{B15A103C-65F3-1F0A-3229-6389A232569A}"/>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2" name="TextBox 1">
            <a:extLst>
              <a:ext uri="{FF2B5EF4-FFF2-40B4-BE49-F238E27FC236}">
                <a16:creationId xmlns:a16="http://schemas.microsoft.com/office/drawing/2014/main" id="{F6F19223-1516-B9D6-0D92-8A75320E6DC6}"/>
              </a:ext>
            </a:extLst>
          </p:cNvPr>
          <p:cNvSpPr txBox="1"/>
          <p:nvPr/>
        </p:nvSpPr>
        <p:spPr>
          <a:xfrm>
            <a:off x="6898249" y="4657611"/>
            <a:ext cx="2047355" cy="1528945"/>
          </a:xfrm>
          <a:prstGeom prst="rect">
            <a:avLst/>
          </a:prstGeom>
          <a:noFill/>
        </p:spPr>
        <p:txBody>
          <a:bodyPr wrap="none" rtlCol="0">
            <a:spAutoFit/>
          </a:bodyPr>
          <a:lstStyle/>
          <a:p>
            <a:r>
              <a:rPr lang="en-US">
                <a:solidFill>
                  <a:schemeClr val="bg1"/>
                </a:solidFill>
              </a:rPr>
              <a:t>Atmiya </a:t>
            </a:r>
            <a:r>
              <a:rPr lang="en-US" dirty="0">
                <a:solidFill>
                  <a:schemeClr val="bg1"/>
                </a:solidFill>
              </a:rPr>
              <a:t>University</a:t>
            </a:r>
          </a:p>
          <a:p>
            <a:r>
              <a:rPr lang="en-US" dirty="0">
                <a:solidFill>
                  <a:schemeClr val="bg1"/>
                </a:solidFill>
              </a:rPr>
              <a:t>Chandresh Dabhi</a:t>
            </a:r>
          </a:p>
          <a:p>
            <a:r>
              <a:rPr lang="en-US" dirty="0">
                <a:solidFill>
                  <a:schemeClr val="bg1"/>
                </a:solidFill>
              </a:rPr>
              <a:t>Rinav Cholera</a:t>
            </a:r>
          </a:p>
          <a:p>
            <a:r>
              <a:rPr lang="en-US" dirty="0">
                <a:solidFill>
                  <a:schemeClr val="bg1"/>
                </a:solidFill>
              </a:rPr>
              <a:t>Krutarth </a:t>
            </a:r>
            <a:r>
              <a:rPr lang="en-US" dirty="0" err="1">
                <a:solidFill>
                  <a:schemeClr val="bg1"/>
                </a:solidFill>
              </a:rPr>
              <a:t>Chatvani</a:t>
            </a:r>
            <a:endParaRPr lang="en-US" dirty="0">
              <a:solidFill>
                <a:schemeClr val="bg1"/>
              </a:solidFill>
            </a:endParaRPr>
          </a:p>
          <a:p>
            <a:r>
              <a:rPr lang="en-US" dirty="0">
                <a:solidFill>
                  <a:schemeClr val="bg1"/>
                </a:solidFill>
              </a:rPr>
              <a:t>09/1/2026</a:t>
            </a:r>
            <a:endParaRPr lang="en-IN" dirty="0">
              <a:solidFill>
                <a:schemeClr val="bg1"/>
              </a:solidFill>
            </a:endParaRPr>
          </a:p>
        </p:txBody>
      </p:sp>
    </p:spTree>
    <p:extLst>
      <p:ext uri="{BB962C8B-B14F-4D97-AF65-F5344CB8AC3E}">
        <p14:creationId xmlns:p14="http://schemas.microsoft.com/office/powerpoint/2010/main" val="4988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EAFFD69-8A93-ACB5-F2C9-A28EC6902F1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7804F0F-D945-868D-6989-BC8F35292AFC}"/>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Dataset Overview</a:t>
            </a:r>
          </a:p>
        </p:txBody>
      </p:sp>
      <p:sp>
        <p:nvSpPr>
          <p:cNvPr id="2" name="Content Placeholder 2">
            <a:extLst>
              <a:ext uri="{FF2B5EF4-FFF2-40B4-BE49-F238E27FC236}">
                <a16:creationId xmlns:a16="http://schemas.microsoft.com/office/drawing/2014/main" id="{517E990F-3D74-1CD2-E0DE-BA7D8581226A}"/>
              </a:ext>
            </a:extLst>
          </p:cNvPr>
          <p:cNvSpPr txBox="1">
            <a:spLocks/>
          </p:cNvSpPr>
          <p:nvPr/>
        </p:nvSpPr>
        <p:spPr>
          <a:xfrm>
            <a:off x="202071" y="1357019"/>
            <a:ext cx="11795184" cy="5359848"/>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1850" b="1" dirty="0"/>
              <a:t>Dataset Description</a:t>
            </a:r>
            <a:r>
              <a:rPr lang="en-US" sz="1850" dirty="0"/>
              <a:t>:</a:t>
            </a:r>
          </a:p>
          <a:p>
            <a:pPr marL="285750" indent="-285750">
              <a:lnSpc>
                <a:spcPct val="150000"/>
              </a:lnSpc>
              <a:buChar char="•"/>
            </a:pPr>
            <a:r>
              <a:rPr lang="en-US" sz="1800" dirty="0"/>
              <a:t>Source</a:t>
            </a:r>
            <a:r>
              <a:rPr lang="en-US" sz="1800" b="1" dirty="0"/>
              <a:t>:</a:t>
            </a:r>
            <a:r>
              <a:rPr lang="en-US" sz="1800" dirty="0"/>
              <a:t> Open-source Crop Recommendation dataset from Kaggle.</a:t>
            </a:r>
          </a:p>
          <a:p>
            <a:pPr marL="285750" indent="-285750">
              <a:lnSpc>
                <a:spcPct val="150000"/>
              </a:lnSpc>
              <a:buChar char="•"/>
            </a:pPr>
            <a:r>
              <a:rPr lang="en-US" sz="1800" dirty="0"/>
              <a:t>Size: 2,200 records with 8 columns.</a:t>
            </a:r>
          </a:p>
          <a:p>
            <a:pPr marL="285750" indent="-285750">
              <a:lnSpc>
                <a:spcPct val="150000"/>
              </a:lnSpc>
              <a:buChar char="•"/>
            </a:pPr>
            <a:r>
              <a:rPr lang="en-US" sz="1800" dirty="0"/>
              <a:t>Key Features: Soil nutrients (N, P, K), pH level, and climatic factors (Temperature, Humidity, Rainfall).</a:t>
            </a:r>
          </a:p>
          <a:p>
            <a:pPr marL="285750" indent="-285750">
              <a:lnSpc>
                <a:spcPct val="150000"/>
              </a:lnSpc>
              <a:buChar char="•"/>
            </a:pPr>
            <a:endParaRPr lang="en-US" sz="2000" dirty="0"/>
          </a:p>
          <a:p>
            <a:pPr marL="285750" indent="-285750">
              <a:lnSpc>
                <a:spcPct val="150000"/>
              </a:lnSpc>
              <a:buChar char="•"/>
            </a:pPr>
            <a:r>
              <a:rPr lang="en-US" sz="1850" b="1" dirty="0"/>
              <a:t>Data Preprocessing:</a:t>
            </a:r>
            <a:br>
              <a:rPr lang="en-US" sz="1850" dirty="0"/>
            </a:br>
            <a:r>
              <a:rPr lang="en-US" sz="1800" dirty="0"/>
              <a:t>Cleaning: Used </a:t>
            </a:r>
            <a:r>
              <a:rPr lang="en-US" sz="1800" err="1">
                <a:latin typeface="Consolas"/>
              </a:rPr>
              <a:t>df.isnull</a:t>
            </a:r>
            <a:r>
              <a:rPr lang="en-US" sz="1800" dirty="0">
                <a:latin typeface="Consolas"/>
              </a:rPr>
              <a:t>().sum()</a:t>
            </a:r>
            <a:r>
              <a:rPr lang="en-US" sz="1800" dirty="0"/>
              <a:t> to confirm zero missing values.</a:t>
            </a:r>
          </a:p>
          <a:p>
            <a:pPr marL="285750" indent="-285750">
              <a:lnSpc>
                <a:spcPct val="150000"/>
              </a:lnSpc>
              <a:buChar char="•"/>
            </a:pPr>
            <a:r>
              <a:rPr lang="en-US" sz="1800" dirty="0"/>
              <a:t>Outlier Handling: Applied the </a:t>
            </a:r>
            <a:r>
              <a:rPr lang="en-US" sz="1800" b="1" dirty="0"/>
              <a:t>IQR (Interquartile Range) Method</a:t>
            </a:r>
            <a:r>
              <a:rPr lang="en-US" sz="1800" dirty="0"/>
              <a:t> to remove extreme sensor readings in Rainfall and Potassium (K).</a:t>
            </a:r>
          </a:p>
          <a:p>
            <a:pPr marL="285750" indent="-285750">
              <a:lnSpc>
                <a:spcPct val="150000"/>
              </a:lnSpc>
              <a:buChar char="•"/>
            </a:pPr>
            <a:r>
              <a:rPr lang="en-US" sz="1800" dirty="0"/>
              <a:t>Transformation: Used Label Encoding to convert the 22 crop names into numeric values for the model.</a:t>
            </a:r>
          </a:p>
          <a:p>
            <a:pPr marL="285750" indent="-285750">
              <a:lnSpc>
                <a:spcPct val="150000"/>
              </a:lnSpc>
              <a:buChar char="•"/>
            </a:pPr>
            <a:r>
              <a:rPr lang="en-US" sz="1800" dirty="0"/>
              <a:t>Normalization: Applied </a:t>
            </a:r>
            <a:r>
              <a:rPr lang="en-US" sz="1800" b="1" err="1"/>
              <a:t>StandardScaler</a:t>
            </a:r>
            <a:r>
              <a:rPr lang="en-US" sz="1800" dirty="0"/>
              <a:t> to scale features so that Rainfall (large numbers) does not dominate pH (small numbers) during training.</a:t>
            </a:r>
          </a:p>
          <a:p>
            <a:endParaRPr lang="en-US" sz="1850" dirty="0"/>
          </a:p>
        </p:txBody>
      </p:sp>
    </p:spTree>
    <p:extLst>
      <p:ext uri="{BB962C8B-B14F-4D97-AF65-F5344CB8AC3E}">
        <p14:creationId xmlns:p14="http://schemas.microsoft.com/office/powerpoint/2010/main" val="1479379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8" name="Content Placeholder 2">
            <a:extLst>
              <a:ext uri="{FF2B5EF4-FFF2-40B4-BE49-F238E27FC236}">
                <a16:creationId xmlns:a16="http://schemas.microsoft.com/office/drawing/2014/main" id="{60187D97-AC02-5BCF-D768-8D617B7921FC}"/>
              </a:ext>
            </a:extLst>
          </p:cNvPr>
          <p:cNvSpPr txBox="1">
            <a:spLocks/>
          </p:cNvSpPr>
          <p:nvPr/>
        </p:nvSpPr>
        <p:spPr>
          <a:xfrm>
            <a:off x="202071" y="1365744"/>
            <a:ext cx="11696700" cy="4883301"/>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nSpc>
                <a:spcPct val="150000"/>
              </a:lnSpc>
            </a:pPr>
            <a:r>
              <a:rPr lang="en-US" sz="1850" b="1"/>
              <a:t>Brief Overview:</a:t>
            </a:r>
            <a:r>
              <a:rPr lang="en-US" sz="1850"/>
              <a:t> Current agricultural practices in many regions rely on traditional intuition rather than scientific data, leading to a "one-size-fits-all" approach to farming. This results in significant inefficiencies, where crops are planted in soil that cannot support their nutritional needs, leading to crop failure or the excessive use of chemical fertilizers to force growth.</a:t>
            </a:r>
            <a:endParaRPr lang="en-US"/>
          </a:p>
          <a:p>
            <a:pPr>
              <a:lnSpc>
                <a:spcPct val="150000"/>
              </a:lnSpc>
            </a:pPr>
            <a:r>
              <a:rPr lang="en-US" sz="1850" b="1"/>
              <a:t>Key Objectives:</a:t>
            </a:r>
            <a:endParaRPr lang="en-US"/>
          </a:p>
          <a:p>
            <a:pPr marL="285750" indent="-285750">
              <a:lnSpc>
                <a:spcPct val="150000"/>
              </a:lnSpc>
              <a:buChar char="•"/>
            </a:pPr>
            <a:r>
              <a:rPr lang="en-US" sz="1850" b="1"/>
              <a:t>Identify Soil-Crop Synergy:</a:t>
            </a:r>
            <a:r>
              <a:rPr lang="en-US" sz="1850"/>
              <a:t> To analyze how Nitrogen (N), Phosphorous (P), and Potassium (K) levels dictate the health of 22 different crop varieties.</a:t>
            </a:r>
            <a:endParaRPr lang="en-US"/>
          </a:p>
          <a:p>
            <a:pPr marL="285750" indent="-285750">
              <a:lnSpc>
                <a:spcPct val="150000"/>
              </a:lnSpc>
              <a:buChar char="•"/>
            </a:pPr>
            <a:r>
              <a:rPr lang="en-US" sz="1850" b="1"/>
              <a:t>Climate Adaptation:</a:t>
            </a:r>
            <a:r>
              <a:rPr lang="en-US" sz="1850"/>
              <a:t> To determine the threshold of Rainfall and Humidity required for sustainable yields without over-irrigation.</a:t>
            </a:r>
            <a:endParaRPr lang="en-US"/>
          </a:p>
          <a:p>
            <a:pPr marL="285750" indent="-285750">
              <a:lnSpc>
                <a:spcPct val="150000"/>
              </a:lnSpc>
              <a:buChar char="•"/>
            </a:pPr>
            <a:r>
              <a:rPr lang="en-US" sz="1850" b="1"/>
              <a:t>Reduce Environmental Footprint:</a:t>
            </a:r>
            <a:r>
              <a:rPr lang="en-US" sz="1850"/>
              <a:t> To create a recommendation logic that minimizes chemical runoff by matching crops to the existing natural nutrients of the soil.</a:t>
            </a:r>
            <a:endParaRPr lang="en-US"/>
          </a:p>
          <a:p>
            <a:pPr marL="285750" indent="-285750">
              <a:lnSpc>
                <a:spcPct val="150000"/>
              </a:lnSpc>
              <a:buChar char="•"/>
            </a:pPr>
            <a:r>
              <a:rPr lang="en-US" sz="1850" b="1"/>
              <a:t>Precision Decision Making:</a:t>
            </a:r>
            <a:r>
              <a:rPr lang="en-US" sz="1850"/>
              <a:t> To replace "trial and error" farming with an AI-driven system that provides a 99% accurate recommendation based on real-time environmental data.</a:t>
            </a:r>
            <a:endParaRPr lang="en-US"/>
          </a:p>
          <a:p>
            <a:pPr>
              <a:lnSpc>
                <a:spcPct val="150000"/>
              </a:lnSpc>
            </a:pPr>
            <a:endParaRPr lang="en-US" sz="1850" dirty="0"/>
          </a:p>
        </p:txBody>
      </p:sp>
      <p:sp>
        <p:nvSpPr>
          <p:cNvPr id="10" name="TextBox 9">
            <a:extLst>
              <a:ext uri="{FF2B5EF4-FFF2-40B4-BE49-F238E27FC236}">
                <a16:creationId xmlns:a16="http://schemas.microsoft.com/office/drawing/2014/main" id="{5DB1BC4A-9C06-38DD-7C54-031675AB8B42}"/>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Problem Statement</a:t>
            </a:r>
            <a:endParaRPr lang="en-IN" sz="2000" dirty="0">
              <a:solidFill>
                <a:srgbClr val="213163"/>
              </a:solidFill>
            </a:endParaRPr>
          </a:p>
        </p:txBody>
      </p:sp>
    </p:spTree>
    <p:extLst>
      <p:ext uri="{BB962C8B-B14F-4D97-AF65-F5344CB8AC3E}">
        <p14:creationId xmlns:p14="http://schemas.microsoft.com/office/powerpoint/2010/main" val="1066288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TextBox 5">
            <a:extLst>
              <a:ext uri="{FF2B5EF4-FFF2-40B4-BE49-F238E27FC236}">
                <a16:creationId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FCC299C6-A902-0E4E-F505-019C3D9286E4}"/>
              </a:ext>
            </a:extLst>
          </p:cNvPr>
          <p:cNvSpPr txBox="1">
            <a:spLocks/>
          </p:cNvSpPr>
          <p:nvPr/>
        </p:nvSpPr>
        <p:spPr>
          <a:xfrm>
            <a:off x="197331" y="1365550"/>
            <a:ext cx="6693378" cy="4897678"/>
          </a:xfrm>
          <a:prstGeom prst="rect">
            <a:avLst/>
          </a:prstGeom>
        </p:spPr>
        <p:txBody>
          <a:bodyPr lIns="91440" tIns="45720" rIns="91440" bIns="45720" anchor="t">
            <a:normAutofit fontScale="8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nSpc>
                <a:spcPct val="150000"/>
              </a:lnSpc>
            </a:pPr>
            <a:r>
              <a:rPr lang="en-US" sz="1850" b="1" dirty="0"/>
              <a:t>Approach:</a:t>
            </a:r>
            <a:r>
              <a:rPr lang="en-US" sz="1850" dirty="0"/>
              <a:t> </a:t>
            </a:r>
            <a:endParaRPr lang="en-US" dirty="0"/>
          </a:p>
          <a:p>
            <a:pPr marL="285750" indent="-285750">
              <a:lnSpc>
                <a:spcPct val="150000"/>
              </a:lnSpc>
              <a:buChar char="•"/>
            </a:pPr>
            <a:r>
              <a:rPr lang="en-US" sz="1850" dirty="0"/>
              <a:t>Step 1: Data cleaning and handling missing values. </a:t>
            </a:r>
            <a:endParaRPr lang="en-US" dirty="0"/>
          </a:p>
          <a:p>
            <a:pPr marL="285750" indent="-285750">
              <a:lnSpc>
                <a:spcPct val="150000"/>
              </a:lnSpc>
              <a:buChar char="•"/>
            </a:pPr>
            <a:r>
              <a:rPr lang="en-US" sz="1850" dirty="0"/>
              <a:t>Step 2: Used the </a:t>
            </a:r>
            <a:r>
              <a:rPr lang="en-US" sz="1850" b="1" dirty="0"/>
              <a:t>IQR Method</a:t>
            </a:r>
            <a:r>
              <a:rPr lang="en-US" sz="1850" dirty="0"/>
              <a:t> to remove extreme outliers in Rainfall and Potassium (K). </a:t>
            </a:r>
            <a:endParaRPr lang="en-US" dirty="0"/>
          </a:p>
          <a:p>
            <a:pPr marL="285750" indent="-285750">
              <a:lnSpc>
                <a:spcPct val="150000"/>
              </a:lnSpc>
              <a:buChar char="•"/>
            </a:pPr>
            <a:r>
              <a:rPr lang="en-US" sz="1850" dirty="0"/>
              <a:t>Step 3</a:t>
            </a:r>
            <a:r>
              <a:rPr lang="en-US" sz="1850" b="1" dirty="0"/>
              <a:t>:</a:t>
            </a:r>
            <a:r>
              <a:rPr lang="en-US" sz="1850" dirty="0"/>
              <a:t> Applied </a:t>
            </a:r>
            <a:r>
              <a:rPr lang="en-US" sz="1850" b="1" dirty="0" err="1"/>
              <a:t>StandardScaler</a:t>
            </a:r>
            <a:r>
              <a:rPr lang="en-US" sz="1850" dirty="0"/>
              <a:t> to normalize feature ranges. </a:t>
            </a:r>
            <a:endParaRPr lang="en-US" dirty="0"/>
          </a:p>
          <a:p>
            <a:pPr marL="285750" indent="-285750">
              <a:lnSpc>
                <a:spcPct val="150000"/>
              </a:lnSpc>
              <a:buChar char="•"/>
            </a:pPr>
            <a:r>
              <a:rPr lang="en-US" sz="1850" dirty="0"/>
              <a:t>Step 4: Split data (80% Train / 20% Test) for model evaluation. </a:t>
            </a:r>
            <a:endParaRPr lang="en-US" dirty="0"/>
          </a:p>
          <a:p>
            <a:pPr>
              <a:lnSpc>
                <a:spcPct val="150000"/>
              </a:lnSpc>
            </a:pPr>
            <a:r>
              <a:rPr lang="en-US" sz="1850" b="1" dirty="0"/>
              <a:t>Algorithms Used:</a:t>
            </a:r>
            <a:r>
              <a:rPr lang="en-US" sz="1850" dirty="0"/>
              <a:t> </a:t>
            </a:r>
            <a:endParaRPr lang="en-US" dirty="0"/>
          </a:p>
          <a:p>
            <a:pPr marL="285750" indent="-285750">
              <a:lnSpc>
                <a:spcPct val="150000"/>
              </a:lnSpc>
              <a:buChar char="•"/>
            </a:pPr>
            <a:r>
              <a:rPr lang="en-US" sz="1850" dirty="0"/>
              <a:t>Random Forest Classifier: Chosen for its high precision in handling non-linear environmental datasets. </a:t>
            </a:r>
            <a:endParaRPr lang="en-US" dirty="0"/>
          </a:p>
          <a:p>
            <a:pPr marL="285750" indent="-285750">
              <a:lnSpc>
                <a:spcPct val="150000"/>
              </a:lnSpc>
              <a:buChar char="•"/>
            </a:pPr>
            <a:r>
              <a:rPr lang="en-US" sz="1850" err="1"/>
              <a:t>StandardScaler</a:t>
            </a:r>
            <a:r>
              <a:rPr lang="en-US" sz="1850" dirty="0"/>
              <a:t>: To ensure equal weight for all features like pH and Rainfall. </a:t>
            </a:r>
            <a:endParaRPr lang="en-US" dirty="0"/>
          </a:p>
          <a:p>
            <a:pPr>
              <a:lnSpc>
                <a:spcPct val="150000"/>
              </a:lnSpc>
            </a:pPr>
            <a:r>
              <a:rPr lang="en-US" sz="1850" b="1" dirty="0"/>
              <a:t>Evaluation Metrics:</a:t>
            </a:r>
            <a:r>
              <a:rPr lang="en-US" sz="1850" dirty="0"/>
              <a:t> </a:t>
            </a:r>
            <a:endParaRPr lang="en-US" dirty="0"/>
          </a:p>
          <a:p>
            <a:pPr marL="285750" indent="-285750">
              <a:lnSpc>
                <a:spcPct val="150000"/>
              </a:lnSpc>
              <a:buChar char="•"/>
            </a:pPr>
            <a:r>
              <a:rPr lang="en-US" sz="1850" dirty="0"/>
              <a:t>Accuracy Score: Achieved </a:t>
            </a:r>
            <a:r>
              <a:rPr lang="en-US" sz="1850" b="1" dirty="0"/>
              <a:t>99%</a:t>
            </a:r>
            <a:r>
              <a:rPr lang="en-US" sz="1850" dirty="0"/>
              <a:t> correct predictions. </a:t>
            </a:r>
            <a:endParaRPr lang="en-US" dirty="0"/>
          </a:p>
          <a:p>
            <a:pPr marL="285750" indent="-285750">
              <a:lnSpc>
                <a:spcPct val="150000"/>
              </a:lnSpc>
              <a:buChar char="•"/>
            </a:pPr>
            <a:r>
              <a:rPr lang="en-US" sz="1850" dirty="0"/>
              <a:t>Confusion Matrix: Used to analyze prediction errors between crop categories.</a:t>
            </a:r>
            <a:endParaRPr lang="en-US" dirty="0"/>
          </a:p>
          <a:p>
            <a:endParaRPr lang="en-US" sz="1850" dirty="0"/>
          </a:p>
        </p:txBody>
      </p:sp>
      <p:sp>
        <p:nvSpPr>
          <p:cNvPr id="5" name="TextBox 4">
            <a:extLst>
              <a:ext uri="{FF2B5EF4-FFF2-40B4-BE49-F238E27FC236}">
                <a16:creationId xmlns:a16="http://schemas.microsoft.com/office/drawing/2014/main" id="{0A86DC2D-04B5-6DF2-25D3-F5C8914AB624}"/>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Methodology</a:t>
            </a:r>
          </a:p>
        </p:txBody>
      </p:sp>
      <p:pic>
        <p:nvPicPr>
          <p:cNvPr id="2" name="Picture 1" descr="A screenshot of a computer screen&#10;&#10;AI-generated content may be incorrect.">
            <a:extLst>
              <a:ext uri="{FF2B5EF4-FFF2-40B4-BE49-F238E27FC236}">
                <a16:creationId xmlns:a16="http://schemas.microsoft.com/office/drawing/2014/main" id="{94D3874B-D88A-1A85-B237-BA1BD39D6A43}"/>
              </a:ext>
            </a:extLst>
          </p:cNvPr>
          <p:cNvPicPr>
            <a:picLocks noChangeAspect="1"/>
          </p:cNvPicPr>
          <p:nvPr/>
        </p:nvPicPr>
        <p:blipFill>
          <a:blip r:embed="rId4"/>
          <a:stretch>
            <a:fillRect/>
          </a:stretch>
        </p:blipFill>
        <p:spPr>
          <a:xfrm>
            <a:off x="6879477" y="861834"/>
            <a:ext cx="5305425" cy="5551278"/>
          </a:xfrm>
          <a:prstGeom prst="rect">
            <a:avLst/>
          </a:prstGeom>
        </p:spPr>
      </p:pic>
    </p:spTree>
    <p:extLst>
      <p:ext uri="{BB962C8B-B14F-4D97-AF65-F5344CB8AC3E}">
        <p14:creationId xmlns:p14="http://schemas.microsoft.com/office/powerpoint/2010/main" val="2025430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8ADD651-E02D-6A0F-1E19-CB2116BE51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766EFA-A954-6AF4-DE00-197FE9726512}"/>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B740A9D2-D722-480E-3DD4-6ADE2D9EDEA2}"/>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1C9A7047-C50F-05FB-5166-D8A51220A43E}"/>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593AA17-5B15-43A6-7AF2-5319AB973A56}"/>
              </a:ext>
            </a:extLst>
          </p:cNvPr>
          <p:cNvSpPr txBox="1">
            <a:spLocks/>
          </p:cNvSpPr>
          <p:nvPr/>
        </p:nvSpPr>
        <p:spPr>
          <a:xfrm>
            <a:off x="197329" y="1466191"/>
            <a:ext cx="5543192" cy="4509488"/>
          </a:xfrm>
          <a:prstGeom prst="rect">
            <a:avLst/>
          </a:prstGeom>
        </p:spPr>
        <p:txBody>
          <a:bodyPr lIns="91440" tIns="45720" rIns="91440" bIns="4572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1850" b="1" dirty="0"/>
              <a:t>Model Performance:</a:t>
            </a:r>
            <a:endParaRPr lang="en-US" dirty="0"/>
          </a:p>
          <a:p>
            <a:pPr marL="285750" indent="-285750">
              <a:buChar char="•"/>
            </a:pPr>
            <a:r>
              <a:rPr lang="en-US" sz="1850" b="1" dirty="0"/>
              <a:t>Accuracy:</a:t>
            </a:r>
            <a:r>
              <a:rPr lang="en-US" sz="1850" dirty="0"/>
              <a:t> </a:t>
            </a:r>
            <a:r>
              <a:rPr lang="en-US" sz="1850" b="1" dirty="0"/>
              <a:t>99.1%</a:t>
            </a:r>
            <a:r>
              <a:rPr lang="en-US" sz="1850" dirty="0"/>
              <a:t> (Shows the model is highly reliable for real-world farming).</a:t>
            </a:r>
            <a:endParaRPr lang="en-US" dirty="0"/>
          </a:p>
          <a:p>
            <a:pPr marL="285750" indent="-285750">
              <a:buChar char="•"/>
            </a:pPr>
            <a:r>
              <a:rPr lang="en-US" sz="1850" b="1" dirty="0"/>
              <a:t>Metrics:</a:t>
            </a:r>
            <a:r>
              <a:rPr lang="en-US" sz="1850" dirty="0"/>
              <a:t> High </a:t>
            </a:r>
            <a:r>
              <a:rPr lang="en-US" sz="1850" b="1" dirty="0"/>
              <a:t>Precision</a:t>
            </a:r>
            <a:r>
              <a:rPr lang="en-US" sz="1850" dirty="0"/>
              <a:t> and </a:t>
            </a:r>
            <a:r>
              <a:rPr lang="en-US" sz="1850" b="1" dirty="0"/>
              <a:t>Recall</a:t>
            </a:r>
            <a:r>
              <a:rPr lang="en-US" sz="1850" dirty="0"/>
              <a:t> across all 22 crop classes, ensuring minimal misclassification.</a:t>
            </a:r>
            <a:endParaRPr lang="en-US" dirty="0"/>
          </a:p>
          <a:p>
            <a:pPr marL="285750" indent="-285750">
              <a:buChar char="•"/>
            </a:pPr>
            <a:r>
              <a:rPr lang="en-US" sz="1850" b="1" dirty="0"/>
              <a:t>Stability:</a:t>
            </a:r>
            <a:r>
              <a:rPr lang="en-US" sz="1850" dirty="0"/>
              <a:t> Low </a:t>
            </a:r>
            <a:r>
              <a:rPr lang="en-US" sz="1850" b="1" dirty="0"/>
              <a:t>Mean Squared Error (MSE)</a:t>
            </a:r>
            <a:r>
              <a:rPr lang="en-US" sz="1850" dirty="0"/>
              <a:t> indicates that the prediction error is extremely low.</a:t>
            </a:r>
            <a:endParaRPr lang="en-US" dirty="0"/>
          </a:p>
          <a:p>
            <a:endParaRPr lang="en-US" sz="1850" dirty="0"/>
          </a:p>
          <a:p>
            <a:endParaRPr lang="en-US" dirty="0"/>
          </a:p>
          <a:p>
            <a:r>
              <a:rPr lang="en-US" sz="1850" dirty="0"/>
              <a:t>Graphs/Visualizations:</a:t>
            </a:r>
            <a:br>
              <a:rPr lang="en-US" sz="1850" dirty="0"/>
            </a:br>
            <a:endParaRPr lang="en-US" sz="1850"/>
          </a:p>
        </p:txBody>
      </p:sp>
      <p:sp>
        <p:nvSpPr>
          <p:cNvPr id="8" name="TextBox 7">
            <a:extLst>
              <a:ext uri="{FF2B5EF4-FFF2-40B4-BE49-F238E27FC236}">
                <a16:creationId xmlns:a16="http://schemas.microsoft.com/office/drawing/2014/main" id="{53DE1687-7F69-BD4F-0FC1-3AFCEDB18C67}"/>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Result</a:t>
            </a:r>
          </a:p>
        </p:txBody>
      </p:sp>
      <p:pic>
        <p:nvPicPr>
          <p:cNvPr id="2" name="Picture 1">
            <a:extLst>
              <a:ext uri="{FF2B5EF4-FFF2-40B4-BE49-F238E27FC236}">
                <a16:creationId xmlns:a16="http://schemas.microsoft.com/office/drawing/2014/main" id="{F9A45F55-1646-6883-CDBD-A204DB25532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877644" y="732527"/>
            <a:ext cx="6317052" cy="5939286"/>
          </a:xfrm>
          <a:prstGeom prst="rect">
            <a:avLst/>
          </a:prstGeom>
        </p:spPr>
      </p:pic>
    </p:spTree>
    <p:extLst>
      <p:ext uri="{BB962C8B-B14F-4D97-AF65-F5344CB8AC3E}">
        <p14:creationId xmlns:p14="http://schemas.microsoft.com/office/powerpoint/2010/main" val="340817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47AA64-86DA-EEB4-2B58-F5C9F4F69238}"/>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3B346371-4D57-77A1-882F-B891D0C22F19}"/>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C4C86F6F-7155-7EC3-58B1-50842D7FA97A}"/>
              </a:ext>
            </a:extLst>
          </p:cNvPr>
          <p:cNvSpPr txBox="1">
            <a:spLocks/>
          </p:cNvSpPr>
          <p:nvPr/>
        </p:nvSpPr>
        <p:spPr>
          <a:xfrm>
            <a:off x="197328" y="1365549"/>
            <a:ext cx="11854851" cy="5156470"/>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nSpc>
                <a:spcPct val="150000"/>
              </a:lnSpc>
            </a:pPr>
            <a:r>
              <a:rPr lang="en-US" sz="1850" b="1" dirty="0"/>
              <a:t>Insights:</a:t>
            </a:r>
            <a:endParaRPr lang="en-US" dirty="0"/>
          </a:p>
          <a:p>
            <a:pPr marL="285750" indent="-285750">
              <a:lnSpc>
                <a:spcPct val="150000"/>
              </a:lnSpc>
              <a:buChar char="•"/>
            </a:pPr>
            <a:r>
              <a:rPr lang="en-US" sz="1850" b="1" dirty="0"/>
              <a:t>Rainfall &amp; Humidity Dominance:</a:t>
            </a:r>
            <a:r>
              <a:rPr lang="en-US" sz="1850" dirty="0"/>
              <a:t> The model revealed that climatic factors have a higher impact on crop suitability than individual soil nutrients.</a:t>
            </a:r>
            <a:endParaRPr lang="en-US" dirty="0"/>
          </a:p>
          <a:p>
            <a:pPr marL="285750" indent="-285750">
              <a:lnSpc>
                <a:spcPct val="150000"/>
              </a:lnSpc>
              <a:buChar char="•"/>
            </a:pPr>
            <a:r>
              <a:rPr lang="en-US" sz="1850" b="1" dirty="0"/>
              <a:t>Soil pH Range:</a:t>
            </a:r>
            <a:r>
              <a:rPr lang="en-US" sz="1850" dirty="0"/>
              <a:t> Most profitable crops are clustered in the 6.0 to 7.0 pH range, indicating that slightly acidic to neutral soil is ideal for sustainable yields.</a:t>
            </a:r>
            <a:endParaRPr lang="en-US" dirty="0"/>
          </a:p>
          <a:p>
            <a:pPr marL="285750" indent="-285750">
              <a:lnSpc>
                <a:spcPct val="150000"/>
              </a:lnSpc>
              <a:buChar char="•"/>
            </a:pPr>
            <a:r>
              <a:rPr lang="en-US" sz="1850" b="1" dirty="0"/>
              <a:t>NPK Ratios:</a:t>
            </a:r>
            <a:r>
              <a:rPr lang="en-US" sz="1850" dirty="0"/>
              <a:t> Specific crops like Grapes and Banana showed a very high dependency on Potassium (K), allowing for targeted fertilization.</a:t>
            </a:r>
            <a:endParaRPr lang="en-US" dirty="0"/>
          </a:p>
          <a:p>
            <a:pPr>
              <a:lnSpc>
                <a:spcPct val="150000"/>
              </a:lnSpc>
            </a:pPr>
            <a:r>
              <a:rPr lang="en-US" sz="1850" b="1" dirty="0"/>
              <a:t>Challenges Faced:</a:t>
            </a:r>
            <a:endParaRPr lang="en-US" dirty="0"/>
          </a:p>
          <a:p>
            <a:pPr marL="285750" indent="-285750">
              <a:lnSpc>
                <a:spcPct val="150000"/>
              </a:lnSpc>
              <a:buChar char="•"/>
            </a:pPr>
            <a:r>
              <a:rPr lang="en-US" sz="1850" b="1" dirty="0"/>
              <a:t>Outlier Management:</a:t>
            </a:r>
            <a:r>
              <a:rPr lang="en-US" sz="1850" dirty="0"/>
              <a:t> Identifying "true" agricultural data vs. sensor noise in Rainfall data required careful application of the </a:t>
            </a:r>
            <a:r>
              <a:rPr lang="en-US" sz="1850" b="1" dirty="0"/>
              <a:t>IQR Method</a:t>
            </a:r>
            <a:r>
              <a:rPr lang="en-US" sz="1850" dirty="0"/>
              <a:t> to avoid biased predictions.</a:t>
            </a:r>
            <a:endParaRPr lang="en-US" dirty="0"/>
          </a:p>
          <a:p>
            <a:pPr marL="285750" indent="-285750">
              <a:lnSpc>
                <a:spcPct val="150000"/>
              </a:lnSpc>
              <a:buChar char="•"/>
            </a:pPr>
            <a:r>
              <a:rPr lang="en-US" sz="1850" b="1" dirty="0"/>
              <a:t>Feature Scaling:</a:t>
            </a:r>
            <a:r>
              <a:rPr lang="en-US" sz="1850" dirty="0"/>
              <a:t> Since Rainfall values are large and pH values are small, we had to apply </a:t>
            </a:r>
            <a:r>
              <a:rPr lang="en-US" sz="1850" b="1" dirty="0"/>
              <a:t>Normalization/Standardization</a:t>
            </a:r>
            <a:r>
              <a:rPr lang="en-US" sz="1850" dirty="0"/>
              <a:t> so the model wouldn't ignore </a:t>
            </a:r>
            <a:r>
              <a:rPr lang="en-US" sz="1850" err="1"/>
              <a:t>pH.</a:t>
            </a:r>
            <a:endParaRPr lang="en-US" sz="1850"/>
          </a:p>
          <a:p>
            <a:pPr>
              <a:lnSpc>
                <a:spcPct val="150000"/>
              </a:lnSpc>
            </a:pPr>
            <a:endParaRPr lang="en-US" sz="1850" b="1" dirty="0"/>
          </a:p>
          <a:p>
            <a:endParaRPr lang="en-US" sz="1850" dirty="0"/>
          </a:p>
        </p:txBody>
      </p:sp>
      <p:sp>
        <p:nvSpPr>
          <p:cNvPr id="8" name="TextBox 7">
            <a:extLst>
              <a:ext uri="{FF2B5EF4-FFF2-40B4-BE49-F238E27FC236}">
                <a16:creationId xmlns:a16="http://schemas.microsoft.com/office/drawing/2014/main" id="{C2132A3D-F4D5-4E25-BE28-B9E521F37201}"/>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Discussion</a:t>
            </a:r>
            <a:endParaRPr lang="en-IN" sz="2000" dirty="0">
              <a:solidFill>
                <a:srgbClr val="213163"/>
              </a:solidFill>
            </a:endParaRPr>
          </a:p>
        </p:txBody>
      </p:sp>
    </p:spTree>
    <p:extLst>
      <p:ext uri="{BB962C8B-B14F-4D97-AF65-F5344CB8AC3E}">
        <p14:creationId xmlns:p14="http://schemas.microsoft.com/office/powerpoint/2010/main" val="3588832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FFAAF42-470E-97FC-B197-6E5DF9EDB14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23E1BD-5875-ABF1-63F3-45C022CCC361}"/>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F04FD7C0-9A64-0039-4825-99241438FE8D}"/>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C0E33A13-0620-DBF5-D01F-30111ED8D4DB}"/>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5DD3A5A0-5DE1-57D5-1967-A49F57C9AB4B}"/>
              </a:ext>
            </a:extLst>
          </p:cNvPr>
          <p:cNvSpPr txBox="1">
            <a:spLocks/>
          </p:cNvSpPr>
          <p:nvPr/>
        </p:nvSpPr>
        <p:spPr>
          <a:xfrm>
            <a:off x="197329" y="1710606"/>
            <a:ext cx="11883605" cy="4178810"/>
          </a:xfrm>
          <a:prstGeom prst="rect">
            <a:avLst/>
          </a:prstGeom>
        </p:spPr>
        <p:txBody>
          <a:bodyPr lIns="91440" tIns="45720" rIns="91440" bIns="4572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nSpc>
                <a:spcPct val="150000"/>
              </a:lnSpc>
            </a:pPr>
            <a:r>
              <a:rPr lang="en-US" sz="1850" b="1" dirty="0"/>
              <a:t>Sustainability Impact:</a:t>
            </a:r>
            <a:endParaRPr lang="en-US" dirty="0"/>
          </a:p>
          <a:p>
            <a:pPr marL="285750" indent="-285750">
              <a:lnSpc>
                <a:spcPct val="150000"/>
              </a:lnSpc>
              <a:buChar char="•"/>
            </a:pPr>
            <a:r>
              <a:rPr lang="en-US" sz="1850" b="1" dirty="0"/>
              <a:t>Zero Waste:</a:t>
            </a:r>
            <a:r>
              <a:rPr lang="en-US" sz="1850" dirty="0"/>
              <a:t> Prevents chemical fertilizer overuse by matching soil needs.</a:t>
            </a:r>
            <a:endParaRPr lang="en-US" dirty="0"/>
          </a:p>
          <a:p>
            <a:pPr marL="285750" indent="-285750">
              <a:lnSpc>
                <a:spcPct val="150000"/>
              </a:lnSpc>
              <a:buChar char="•"/>
            </a:pPr>
            <a:r>
              <a:rPr lang="en-US" sz="1850" b="1" dirty="0"/>
              <a:t>Eco-Friendly:</a:t>
            </a:r>
            <a:r>
              <a:rPr lang="en-US" sz="1850" dirty="0"/>
              <a:t> Protects groundwater from toxic fertilizer runoff.</a:t>
            </a:r>
            <a:endParaRPr lang="en-US" dirty="0"/>
          </a:p>
          <a:p>
            <a:pPr marL="285750" indent="-285750">
              <a:lnSpc>
                <a:spcPct val="150000"/>
              </a:lnSpc>
              <a:buChar char="•"/>
            </a:pPr>
            <a:r>
              <a:rPr lang="en-US" sz="1850" b="1" dirty="0"/>
              <a:t>SDG Goal:</a:t>
            </a:r>
            <a:r>
              <a:rPr lang="en-US" sz="1850" dirty="0"/>
              <a:t> Directly supports </a:t>
            </a:r>
            <a:r>
              <a:rPr lang="en-US" sz="1850" b="1" dirty="0"/>
              <a:t>Responsible Consumption (SDG 12)</a:t>
            </a:r>
            <a:r>
              <a:rPr lang="en-US" sz="1850" dirty="0"/>
              <a:t>.</a:t>
            </a:r>
            <a:endParaRPr lang="en-US" dirty="0"/>
          </a:p>
          <a:p>
            <a:pPr>
              <a:lnSpc>
                <a:spcPct val="150000"/>
              </a:lnSpc>
            </a:pPr>
            <a:r>
              <a:rPr lang="en-US" sz="1850" b="1" dirty="0"/>
              <a:t>Practical Implementation:</a:t>
            </a:r>
            <a:endParaRPr lang="en-US" dirty="0"/>
          </a:p>
          <a:p>
            <a:pPr marL="285750" indent="-285750">
              <a:lnSpc>
                <a:spcPct val="150000"/>
              </a:lnSpc>
              <a:buChar char="•"/>
            </a:pPr>
            <a:r>
              <a:rPr lang="en-US" sz="1850" b="1" dirty="0"/>
              <a:t>Farmer App:</a:t>
            </a:r>
            <a:r>
              <a:rPr lang="en-US" sz="1850" dirty="0"/>
              <a:t> A tool for instant crop advice based on soil tests.</a:t>
            </a:r>
            <a:endParaRPr lang="en-US" dirty="0"/>
          </a:p>
          <a:p>
            <a:pPr marL="285750" indent="-285750">
              <a:lnSpc>
                <a:spcPct val="150000"/>
              </a:lnSpc>
              <a:buChar char="•"/>
            </a:pPr>
            <a:r>
              <a:rPr lang="en-US" sz="1850" b="1" dirty="0"/>
              <a:t>Smart Maps:</a:t>
            </a:r>
            <a:r>
              <a:rPr lang="en-US" sz="1850" dirty="0"/>
              <a:t> Helping government agencies map fertile land regions.</a:t>
            </a:r>
            <a:endParaRPr lang="en-US" dirty="0"/>
          </a:p>
          <a:p>
            <a:pPr>
              <a:lnSpc>
                <a:spcPct val="150000"/>
              </a:lnSpc>
            </a:pPr>
            <a:r>
              <a:rPr lang="en-US" sz="1850" dirty="0"/>
              <a:t>.</a:t>
            </a:r>
          </a:p>
          <a:p>
            <a:pPr>
              <a:lnSpc>
                <a:spcPct val="150000"/>
              </a:lnSpc>
            </a:pPr>
            <a:endParaRPr lang="en-US" sz="1850" dirty="0"/>
          </a:p>
        </p:txBody>
      </p:sp>
      <p:sp>
        <p:nvSpPr>
          <p:cNvPr id="8" name="TextBox 7">
            <a:extLst>
              <a:ext uri="{FF2B5EF4-FFF2-40B4-BE49-F238E27FC236}">
                <a16:creationId xmlns:a16="http://schemas.microsoft.com/office/drawing/2014/main" id="{03015779-0D87-0B8F-666B-1C962E184FD1}"/>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Solution Impact</a:t>
            </a:r>
            <a:endParaRPr lang="en-IN" sz="2000" dirty="0">
              <a:solidFill>
                <a:srgbClr val="213163"/>
              </a:solidFill>
            </a:endParaRPr>
          </a:p>
        </p:txBody>
      </p:sp>
    </p:spTree>
    <p:extLst>
      <p:ext uri="{BB962C8B-B14F-4D97-AF65-F5344CB8AC3E}">
        <p14:creationId xmlns:p14="http://schemas.microsoft.com/office/powerpoint/2010/main" val="2848511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Conclusion</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195937" y="1375634"/>
            <a:ext cx="5912294" cy="4438395"/>
          </a:xfrm>
          <a:prstGeom prst="rect">
            <a:avLst/>
          </a:prstGeom>
          <a:noFill/>
        </p:spPr>
        <p:txBody>
          <a:bodyPr wrap="square" lIns="91440" tIns="45720" rIns="91440" bIns="45720" rtlCol="0" anchor="t">
            <a:spAutoFit/>
          </a:bodyPr>
          <a:lstStyle/>
          <a:p>
            <a:pPr>
              <a:lnSpc>
                <a:spcPct val="200000"/>
              </a:lnSpc>
              <a:buFont typeface="Arial" panose="020B0604020202020204" pitchFamily="34" charset="0"/>
              <a:buChar char="•"/>
            </a:pPr>
            <a:r>
              <a:rPr lang="en-US" sz="1800" b="1" dirty="0">
                <a:latin typeface="+mn-lt"/>
              </a:rPr>
              <a:t>Final Summary:</a:t>
            </a:r>
            <a:endParaRPr lang="en-US" sz="1800" dirty="0">
              <a:latin typeface="+mn-lt"/>
            </a:endParaRPr>
          </a:p>
          <a:p>
            <a:pPr>
              <a:lnSpc>
                <a:spcPct val="200000"/>
              </a:lnSpc>
              <a:buFont typeface="Arial" panose="020B0604020202020204" pitchFamily="34" charset="0"/>
              <a:buChar char="•"/>
            </a:pPr>
            <a:r>
              <a:rPr lang="en-US" sz="1800">
                <a:latin typeface="+mn-lt"/>
              </a:rPr>
              <a:t>Achieved </a:t>
            </a:r>
            <a:r>
              <a:rPr lang="en-US" sz="1800" b="1">
                <a:latin typeface="+mn-lt"/>
              </a:rPr>
              <a:t>99.1% Accuracy</a:t>
            </a:r>
            <a:r>
              <a:rPr lang="en-US" sz="1800">
                <a:latin typeface="+mn-lt"/>
              </a:rPr>
              <a:t> using Random Forest.</a:t>
            </a:r>
            <a:endParaRPr lang="en-US"/>
          </a:p>
          <a:p>
            <a:pPr>
              <a:lnSpc>
                <a:spcPct val="200000"/>
              </a:lnSpc>
              <a:buFont typeface="Arial" panose="020B0604020202020204" pitchFamily="34" charset="0"/>
              <a:buChar char="•"/>
            </a:pPr>
            <a:r>
              <a:rPr lang="en-US" sz="1800">
                <a:latin typeface="+mn-lt"/>
              </a:rPr>
              <a:t>Successfully turned raw soil data into a sustainable farming tool.</a:t>
            </a:r>
            <a:endParaRPr lang="en-US"/>
          </a:p>
          <a:p>
            <a:pPr>
              <a:lnSpc>
                <a:spcPct val="200000"/>
              </a:lnSpc>
              <a:buFont typeface="Arial" panose="020B0604020202020204" pitchFamily="34" charset="0"/>
              <a:buChar char="•"/>
            </a:pPr>
            <a:r>
              <a:rPr lang="en-US" sz="1800" b="1" dirty="0">
                <a:latin typeface="+mn-lt"/>
              </a:rPr>
              <a:t>Future Work:</a:t>
            </a:r>
            <a:endParaRPr lang="en-US" dirty="0"/>
          </a:p>
          <a:p>
            <a:pPr>
              <a:lnSpc>
                <a:spcPct val="200000"/>
              </a:lnSpc>
              <a:buFont typeface="Arial" panose="020B0604020202020204" pitchFamily="34" charset="0"/>
              <a:buChar char="•"/>
            </a:pPr>
            <a:r>
              <a:rPr lang="en-US" sz="1800" dirty="0">
                <a:latin typeface="+mn-lt"/>
              </a:rPr>
              <a:t>Add a </a:t>
            </a:r>
            <a:r>
              <a:rPr lang="en-US" sz="1800" b="1" dirty="0">
                <a:latin typeface="+mn-lt"/>
              </a:rPr>
              <a:t>Fertilizer Dosage</a:t>
            </a:r>
            <a:r>
              <a:rPr lang="en-US" sz="1800" dirty="0">
                <a:latin typeface="+mn-lt"/>
              </a:rPr>
              <a:t> calculator.</a:t>
            </a:r>
            <a:endParaRPr lang="en-US" dirty="0"/>
          </a:p>
          <a:p>
            <a:pPr>
              <a:lnSpc>
                <a:spcPct val="200000"/>
              </a:lnSpc>
              <a:buFont typeface="Arial" panose="020B0604020202020204" pitchFamily="34" charset="0"/>
              <a:buChar char="•"/>
            </a:pPr>
            <a:r>
              <a:rPr lang="en-US" sz="1800" dirty="0">
                <a:latin typeface="+mn-lt"/>
              </a:rPr>
              <a:t>Support for more Indian crop varieties.</a:t>
            </a:r>
            <a:endParaRPr lang="en-US" dirty="0"/>
          </a:p>
          <a:p>
            <a:pPr marL="228600" indent="-228600">
              <a:lnSpc>
                <a:spcPct val="200000"/>
              </a:lnSpc>
              <a:spcAft>
                <a:spcPts val="800"/>
              </a:spcAft>
              <a:buFont typeface="Arial" panose="020B0604020202020204" pitchFamily="34" charset="0"/>
              <a:buChar char="•"/>
            </a:pPr>
            <a:endParaRPr lang="en-US" sz="1800" dirty="0">
              <a:latin typeface="+mn-lt"/>
            </a:endParaRPr>
          </a:p>
        </p:txBody>
      </p:sp>
      <p:sp>
        <p:nvSpPr>
          <p:cNvPr id="8" name="TextBox 7">
            <a:extLst>
              <a:ext uri="{FF2B5EF4-FFF2-40B4-BE49-F238E27FC236}">
                <a16:creationId xmlns:a16="http://schemas.microsoft.com/office/drawing/2014/main" id="{FF6EE1DD-6A31-2A28-F8BE-6E59037422CF}"/>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9" name="TextBox 8">
            <a:extLst>
              <a:ext uri="{FF2B5EF4-FFF2-40B4-BE49-F238E27FC236}">
                <a16:creationId xmlns:a16="http://schemas.microsoft.com/office/drawing/2014/main" id="{18F06934-F528-B704-BB31-70471CEEB0BF}"/>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A light bulb with a black background&#10;&#10;Description automatically generated">
            <a:extLst>
              <a:ext uri="{FF2B5EF4-FFF2-40B4-BE49-F238E27FC236}">
                <a16:creationId xmlns:a16="http://schemas.microsoft.com/office/drawing/2014/main" id="{75F7452F-58BC-17CE-3016-C04F4A0BB586}"/>
              </a:ext>
            </a:extLst>
          </p:cNvPr>
          <p:cNvPicPr>
            <a:picLocks noChangeAspect="1"/>
          </p:cNvPicPr>
          <p:nvPr/>
        </p:nvPicPr>
        <p:blipFill rotWithShape="1">
          <a:blip r:embed="rId4"/>
          <a:srcRect l="7117" t="5427" r="7295" b="7474"/>
          <a:stretch/>
        </p:blipFill>
        <p:spPr>
          <a:xfrm>
            <a:off x="7112000" y="1092200"/>
            <a:ext cx="4551680" cy="4632115"/>
          </a:xfrm>
          <a:prstGeom prst="rect">
            <a:avLst/>
          </a:prstGeom>
        </p:spPr>
      </p:pic>
    </p:spTree>
    <p:extLst>
      <p:ext uri="{BB962C8B-B14F-4D97-AF65-F5344CB8AC3E}">
        <p14:creationId xmlns:p14="http://schemas.microsoft.com/office/powerpoint/2010/main" val="204632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References</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375634"/>
            <a:ext cx="11706369" cy="4611519"/>
          </a:xfrm>
          <a:prstGeom prst="rect">
            <a:avLst/>
          </a:prstGeom>
          <a:noFill/>
        </p:spPr>
        <p:txBody>
          <a:bodyPr wrap="square" lIns="91440" tIns="45720" rIns="91440" bIns="45720" rtlCol="0" anchor="t">
            <a:spAutoFit/>
          </a:bodyPr>
          <a:lstStyle/>
          <a:p>
            <a:pPr>
              <a:lnSpc>
                <a:spcPct val="150000"/>
              </a:lnSpc>
              <a:buFont typeface="Arial" panose="020B0604020202020204" pitchFamily="34" charset="0"/>
              <a:buChar char="•"/>
            </a:pPr>
            <a:r>
              <a:rPr lang="en-US" sz="1800" b="1" dirty="0">
                <a:latin typeface="+mn-lt"/>
              </a:rPr>
              <a:t>GitHub Repository:</a:t>
            </a:r>
            <a:endParaRPr lang="en-US" dirty="0"/>
          </a:p>
          <a:p>
            <a:pPr>
              <a:lnSpc>
                <a:spcPct val="150000"/>
              </a:lnSpc>
              <a:buFont typeface="Arial" panose="020B0604020202020204" pitchFamily="34" charset="0"/>
              <a:buChar char="•"/>
            </a:pPr>
            <a:r>
              <a:rPr lang="en-US" sz="1800" b="1" dirty="0">
                <a:latin typeface="+mn-lt"/>
              </a:rPr>
              <a:t>Link:</a:t>
            </a:r>
            <a:r>
              <a:rPr lang="en-US" sz="1800" dirty="0">
                <a:latin typeface="+mn-lt"/>
              </a:rPr>
              <a:t> [</a:t>
            </a:r>
            <a:r>
              <a:rPr lang="en-IN" sz="1800" dirty="0"/>
              <a:t>https://github.com/Chandresh2601/Crop-Recommendation-System</a:t>
            </a:r>
            <a:r>
              <a:rPr lang="en-US" sz="1800" dirty="0">
                <a:latin typeface="+mn-lt"/>
              </a:rPr>
              <a:t>]</a:t>
            </a:r>
            <a:endParaRPr lang="en-US" dirty="0"/>
          </a:p>
          <a:p>
            <a:pPr>
              <a:lnSpc>
                <a:spcPct val="150000"/>
              </a:lnSpc>
              <a:buFont typeface="Arial" panose="020B0604020202020204" pitchFamily="34" charset="0"/>
              <a:buChar char="•"/>
            </a:pPr>
            <a:r>
              <a:rPr lang="en-US" sz="1800" b="1" dirty="0">
                <a:latin typeface="+mn-lt"/>
              </a:rPr>
              <a:t>Project:</a:t>
            </a:r>
            <a:r>
              <a:rPr lang="en-US" sz="1800" dirty="0">
                <a:latin typeface="+mn-lt"/>
              </a:rPr>
              <a:t> Crop Recommendation System Source Code.</a:t>
            </a:r>
            <a:endParaRPr lang="en-US" dirty="0"/>
          </a:p>
          <a:p>
            <a:pPr>
              <a:lnSpc>
                <a:spcPct val="150000"/>
              </a:lnSpc>
              <a:buFont typeface="Arial" panose="020B0604020202020204" pitchFamily="34" charset="0"/>
              <a:buChar char="•"/>
            </a:pPr>
            <a:r>
              <a:rPr lang="en-US" sz="1800" b="1" dirty="0">
                <a:latin typeface="+mn-lt"/>
              </a:rPr>
              <a:t>Dataset Source:</a:t>
            </a:r>
            <a:endParaRPr lang="en-US" dirty="0"/>
          </a:p>
          <a:p>
            <a:pPr>
              <a:lnSpc>
                <a:spcPct val="150000"/>
              </a:lnSpc>
              <a:buFont typeface="Arial" panose="020B0604020202020204" pitchFamily="34" charset="0"/>
              <a:buChar char="•"/>
            </a:pPr>
            <a:r>
              <a:rPr lang="en-US" sz="1800" b="1" dirty="0">
                <a:latin typeface="+mn-lt"/>
              </a:rPr>
              <a:t>Data:</a:t>
            </a:r>
            <a:r>
              <a:rPr lang="en-US" sz="1800" dirty="0">
                <a:latin typeface="+mn-lt"/>
              </a:rPr>
              <a:t> Open-source Crop Recommendation Dataset.</a:t>
            </a:r>
            <a:endParaRPr lang="en-US" dirty="0"/>
          </a:p>
          <a:p>
            <a:pPr>
              <a:lnSpc>
                <a:spcPct val="150000"/>
              </a:lnSpc>
              <a:buFont typeface="Arial" panose="020B0604020202020204" pitchFamily="34" charset="0"/>
              <a:buChar char="•"/>
            </a:pPr>
            <a:r>
              <a:rPr lang="en-US" sz="1800" b="1" dirty="0">
                <a:latin typeface="+mn-lt"/>
              </a:rPr>
              <a:t>Link:</a:t>
            </a:r>
            <a:r>
              <a:rPr lang="en-US" sz="1800" dirty="0">
                <a:latin typeface="+mn-lt"/>
              </a:rPr>
              <a:t> </a:t>
            </a:r>
            <a:r>
              <a:rPr lang="en-US" sz="1800" dirty="0">
                <a:latin typeface="+mn-lt"/>
                <a:hlinkClick r:id="rId3"/>
              </a:rPr>
              <a:t>kaggle.com/datasets/cp-crop-recommendation</a:t>
            </a:r>
            <a:endParaRPr lang="en-US" dirty="0"/>
          </a:p>
          <a:p>
            <a:pPr>
              <a:lnSpc>
                <a:spcPct val="150000"/>
              </a:lnSpc>
              <a:buFont typeface="Arial" panose="020B0604020202020204" pitchFamily="34" charset="0"/>
              <a:buChar char="•"/>
            </a:pPr>
            <a:r>
              <a:rPr lang="en-US" sz="1800" b="1" dirty="0">
                <a:latin typeface="+mn-lt"/>
              </a:rPr>
              <a:t>Technical Documentation:</a:t>
            </a:r>
            <a:endParaRPr lang="en-US" dirty="0"/>
          </a:p>
          <a:p>
            <a:pPr>
              <a:lnSpc>
                <a:spcPct val="150000"/>
              </a:lnSpc>
              <a:buFont typeface="Arial" panose="020B0604020202020204" pitchFamily="34" charset="0"/>
              <a:buChar char="•"/>
            </a:pPr>
            <a:r>
              <a:rPr lang="en-US" sz="1800" b="1" dirty="0">
                <a:latin typeface="+mn-lt"/>
              </a:rPr>
              <a:t>Libraries:</a:t>
            </a:r>
            <a:r>
              <a:rPr lang="en-US" sz="1800" dirty="0">
                <a:latin typeface="+mn-lt"/>
              </a:rPr>
              <a:t> Scikit-Learn, Pandas, NumPy.</a:t>
            </a:r>
            <a:endParaRPr lang="en-US" dirty="0"/>
          </a:p>
          <a:p>
            <a:pPr>
              <a:lnSpc>
                <a:spcPct val="150000"/>
              </a:lnSpc>
              <a:buFont typeface="Arial" panose="020B0604020202020204" pitchFamily="34" charset="0"/>
              <a:buChar char="•"/>
            </a:pPr>
            <a:r>
              <a:rPr lang="en-US" sz="1800" b="1" dirty="0">
                <a:latin typeface="+mn-lt"/>
              </a:rPr>
              <a:t>Algorithm:</a:t>
            </a:r>
            <a:r>
              <a:rPr lang="en-US" sz="1800" dirty="0">
                <a:latin typeface="+mn-lt"/>
              </a:rPr>
              <a:t> Random Forest Documentation.</a:t>
            </a:r>
            <a:endParaRPr lang="en-US" dirty="0"/>
          </a:p>
          <a:p>
            <a:pPr>
              <a:lnSpc>
                <a:spcPct val="150000"/>
              </a:lnSpc>
              <a:buFont typeface="Arial" panose="020B0604020202020204" pitchFamily="34" charset="0"/>
              <a:buChar char="•"/>
            </a:pPr>
            <a:r>
              <a:rPr lang="en-US" sz="1800" b="1" dirty="0">
                <a:latin typeface="+mn-lt"/>
              </a:rPr>
              <a:t>Template:</a:t>
            </a:r>
            <a:r>
              <a:rPr lang="en-US" sz="1800" dirty="0">
                <a:latin typeface="+mn-lt"/>
              </a:rPr>
              <a:t> Shell Skills4Future / </a:t>
            </a:r>
            <a:r>
              <a:rPr lang="en-US" sz="1800" dirty="0" err="1">
                <a:latin typeface="+mn-lt"/>
              </a:rPr>
              <a:t>Edunet</a:t>
            </a:r>
            <a:r>
              <a:rPr lang="en-US" sz="1800" dirty="0">
                <a:latin typeface="+mn-lt"/>
              </a:rPr>
              <a:t> Foundation.</a:t>
            </a:r>
            <a:endParaRPr lang="en-US" dirty="0"/>
          </a:p>
          <a:p>
            <a:pPr marL="228600" indent="-228600">
              <a:lnSpc>
                <a:spcPct val="150000"/>
              </a:lnSpc>
              <a:spcAft>
                <a:spcPts val="800"/>
              </a:spcAft>
              <a:buFont typeface="Arial" panose="020B0604020202020204" pitchFamily="34" charset="0"/>
              <a:buChar char="•"/>
            </a:pPr>
            <a:endParaRPr lang="en-US" sz="1800" dirty="0">
              <a:latin typeface="+mn-lt"/>
            </a:endParaRPr>
          </a:p>
        </p:txBody>
      </p:sp>
    </p:spTree>
    <p:extLst>
      <p:ext uri="{BB962C8B-B14F-4D97-AF65-F5344CB8AC3E}">
        <p14:creationId xmlns:p14="http://schemas.microsoft.com/office/powerpoint/2010/main" val="1307925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dirty="0">
                <a:solidFill>
                  <a:srgbClr val="213163"/>
                </a:solidFill>
              </a:rPr>
              <a:t>Thank You</a:t>
            </a:r>
            <a:endParaRPr lang="en-US" sz="5000" dirty="0"/>
          </a:p>
        </p:txBody>
      </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2.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3749</TotalTime>
  <Words>837</Words>
  <Application>Microsoft Office PowerPoint</Application>
  <PresentationFormat>Widescreen</PresentationFormat>
  <Paragraphs>89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Consolas</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Chandresh Dabhi</cp:lastModifiedBy>
  <cp:revision>179</cp:revision>
  <dcterms:modified xsi:type="dcterms:W3CDTF">2026-01-08T15:49:59Z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